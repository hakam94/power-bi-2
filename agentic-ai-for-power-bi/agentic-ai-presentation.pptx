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84" y="3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74827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17920" y="54864"/>
            <a:ext cx="5971032" cy="6748272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00D2FF"/>
                </a:solidFill>
                <a:latin typeface="Arial"/>
              </a:rPr>
              <a:t>Hakam Data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459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 i="0">
                <a:solidFill>
                  <a:srgbClr val="88AABB"/>
                </a:solidFill>
                <a:latin typeface="Arial"/>
              </a:rPr>
              <a:t>@HakamDataStudio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94560"/>
            <a:ext cx="5029200" cy="36576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22860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600" b="0" i="0">
                <a:solidFill>
                  <a:srgbClr val="88AABB"/>
                </a:solidFill>
                <a:latin typeface="Arial"/>
              </a:rPr>
              <a:t>مؤتمر مايكروسوفت بيلد 2026</a:t>
            </a:r>
          </a:p>
          <a:p>
            <a:pPr algn="l" rtl="0"/>
            <a:r>
              <a:rPr sz="1600" b="0" i="0">
                <a:solidFill>
                  <a:srgbClr val="88AABB"/>
                </a:solidFill>
                <a:latin typeface="Arial"/>
              </a:rPr>
              <a:t>(Microsoft Build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943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600" b="0" i="0">
                <a:solidFill>
                  <a:srgbClr val="BFFF00"/>
                </a:solidFill>
                <a:latin typeface="Arial"/>
              </a:rPr>
              <a:t>شرح كامل بالعربي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144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600" b="1" i="0">
                <a:solidFill>
                  <a:srgbClr val="FFFFFF"/>
                </a:solidFill>
                <a:latin typeface="Arial"/>
              </a:rPr>
              <a:t>عصر الذكاء</a:t>
            </a:r>
          </a:p>
          <a:p>
            <a:pPr algn="r" rtl="1"/>
            <a:r>
              <a:rPr sz="4600" b="1" i="0">
                <a:solidFill>
                  <a:srgbClr val="FFFFFF"/>
                </a:solidFill>
                <a:latin typeface="Arial"/>
              </a:rPr>
              <a:t>الاصطناعي الوكيل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 i="0">
                <a:solidFill>
                  <a:srgbClr val="BFFF00"/>
                </a:solidFill>
                <a:latin typeface="Arial"/>
              </a:rPr>
              <a:t>(Agentic AI Era)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114800"/>
            <a:ext cx="530352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42519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00D2FF"/>
                </a:solidFill>
                <a:latin typeface="Arial"/>
              </a:rPr>
              <a:t>في باور بي آي ومايكروسوفت فابريك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846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88AABB"/>
                </a:solidFill>
                <a:latin typeface="Arial"/>
              </a:rPr>
              <a:t>(Power BI &amp; Microsoft Fabric)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tic_sta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35040" y="777240"/>
            <a:ext cx="27432" cy="53035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0" y="777240"/>
            <a:ext cx="53309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ar-DZ" sz="2200" b="1" i="0">
                <a:solidFill>
                  <a:srgbClr val="FFFFFF"/>
                </a:solidFill>
                <a:latin typeface="Arial"/>
              </a:rPr>
              <a:t>التطور: ثلاث مراحل وصلنا إلى عصر الوكلاء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47800"/>
            <a:ext cx="53309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lang="en-US" sz="1300" b="0" i="0">
                <a:solidFill>
                  <a:srgbClr val="00D2FF"/>
                </a:solidFill>
                <a:latin typeface="Arial"/>
              </a:rPr>
              <a:t>(Evolution: From Dashboards to Autonomous AI Agents)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011680"/>
            <a:ext cx="5330952" cy="1280160"/>
          </a:xfrm>
          <a:prstGeom prst="rect">
            <a:avLst/>
          </a:prstGeom>
          <a:solidFill>
            <a:srgbClr val="0A181F"/>
          </a:solidFill>
          <a:ln w="19050">
            <a:solidFill>
              <a:srgbClr val="B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205740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BFFF00"/>
                </a:solidFill>
                <a:latin typeface="Arial"/>
              </a:rPr>
              <a:t>+20 سنة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3309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ar-DZ" sz="1400" b="1" i="0">
                <a:solidFill>
                  <a:srgbClr val="FFFFFF"/>
                </a:solidFill>
                <a:latin typeface="Arial"/>
              </a:rPr>
              <a:t>المرحلة الأولى</a:t>
            </a:r>
          </a:p>
          <a:p>
            <a:pPr algn="ctr" rtl="0"/>
            <a:r>
              <a:rPr lang="ar-DZ" sz="1400" b="1" i="0">
                <a:solidFill>
                  <a:srgbClr val="FFFFFF"/>
                </a:solidFill>
                <a:latin typeface="Arial"/>
              </a:rPr>
              <a:t>(</a:t>
            </a:r>
            <a:r>
              <a:rPr lang="en-US" sz="1400" b="1" i="0">
                <a:solidFill>
                  <a:srgbClr val="FFFFFF"/>
                </a:solidFill>
                <a:latin typeface="Arial"/>
              </a:rPr>
              <a:t>Dashboard Era)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5330952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ar-DZ" sz="1150" b="0" i="0">
                <a:solidFill>
                  <a:srgbClr val="88AABB"/>
                </a:solidFill>
                <a:latin typeface="Arial"/>
              </a:rPr>
              <a:t>لوحات ثابتة — الإنسان يسأل</a:t>
            </a:r>
          </a:p>
          <a:p>
            <a:pPr algn="ctr" rtl="1"/>
            <a:r>
              <a:rPr lang="ar-DZ" sz="1150" b="0" i="0">
                <a:solidFill>
                  <a:srgbClr val="88AABB"/>
                </a:solidFill>
                <a:latin typeface="Arial"/>
              </a:rPr>
              <a:t>والنظام يجاوب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383280"/>
            <a:ext cx="5330952" cy="1280160"/>
          </a:xfrm>
          <a:prstGeom prst="rect">
            <a:avLst/>
          </a:prstGeom>
          <a:solidFill>
            <a:srgbClr val="0A181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42900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00D2FF"/>
                </a:solidFill>
                <a:latin typeface="Arial"/>
              </a:rPr>
              <a:t>2022-2025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749040"/>
            <a:ext cx="53309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ar-DZ" sz="1400" b="1" i="0">
                <a:solidFill>
                  <a:srgbClr val="FFFFFF"/>
                </a:solidFill>
                <a:latin typeface="Arial"/>
              </a:rPr>
              <a:t>المرحلة الثانية</a:t>
            </a:r>
          </a:p>
          <a:p>
            <a:pPr algn="ctr" rtl="0"/>
            <a:r>
              <a:rPr lang="ar-DZ" sz="1400" b="1" i="0">
                <a:solidFill>
                  <a:srgbClr val="FFFFFF"/>
                </a:solidFill>
                <a:latin typeface="Arial"/>
              </a:rPr>
              <a:t>(</a:t>
            </a:r>
            <a:r>
              <a:rPr lang="en-US" sz="1400" b="1" i="0">
                <a:solidFill>
                  <a:srgbClr val="FFFFFF"/>
                </a:solidFill>
                <a:latin typeface="Arial"/>
              </a:rPr>
              <a:t>Copilot Era)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5330952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ar-DZ" sz="1150" b="0" i="0">
                <a:solidFill>
                  <a:srgbClr val="88AABB"/>
                </a:solidFill>
                <a:latin typeface="Arial"/>
              </a:rPr>
              <a:t>مساعد ذكي — يجاوب الأسئلة</a:t>
            </a:r>
          </a:p>
          <a:p>
            <a:pPr algn="ctr" rtl="1"/>
            <a:r>
              <a:rPr lang="ar-DZ" sz="1150" b="0" i="0">
                <a:solidFill>
                  <a:srgbClr val="88AABB"/>
                </a:solidFill>
                <a:latin typeface="Arial"/>
              </a:rPr>
              <a:t>بالكلام الطبيعي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754880"/>
            <a:ext cx="5330952" cy="1280160"/>
          </a:xfrm>
          <a:prstGeom prst="rect">
            <a:avLst/>
          </a:prstGeom>
          <a:solidFill>
            <a:srgbClr val="0A181F"/>
          </a:solidFill>
          <a:ln w="19050">
            <a:solidFill>
              <a:srgbClr val="B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800600"/>
            <a:ext cx="5330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BFFF00"/>
                </a:solidFill>
                <a:latin typeface="Arial"/>
              </a:rPr>
              <a:t>2026 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20640"/>
            <a:ext cx="53309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ar-DZ" sz="1400" b="1" i="0">
                <a:solidFill>
                  <a:srgbClr val="FFFFFF"/>
                </a:solidFill>
                <a:latin typeface="Arial"/>
              </a:rPr>
              <a:t>المرحلة الثالثة</a:t>
            </a:r>
          </a:p>
          <a:p>
            <a:pPr algn="ctr" rtl="0"/>
            <a:r>
              <a:rPr lang="ar-DZ" sz="1400" b="1" i="0">
                <a:solidFill>
                  <a:srgbClr val="FFFFFF"/>
                </a:solidFill>
                <a:latin typeface="Arial"/>
              </a:rPr>
              <a:t>(</a:t>
            </a:r>
            <a:r>
              <a:rPr lang="en-US" sz="1400" b="1" i="0">
                <a:solidFill>
                  <a:srgbClr val="FFFFFF"/>
                </a:solidFill>
                <a:latin typeface="Arial"/>
              </a:rPr>
              <a:t>Agentic AI Era)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577840"/>
            <a:ext cx="5330952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ar-DZ" sz="1150" b="0" i="0">
                <a:solidFill>
                  <a:srgbClr val="88AABB"/>
                </a:solidFill>
                <a:latin typeface="Arial"/>
              </a:rPr>
              <a:t>وكيل مستقل — يخطط وينفذ</a:t>
            </a:r>
          </a:p>
          <a:p>
            <a:pPr algn="ctr" rtl="1"/>
            <a:r>
              <a:rPr lang="ar-DZ" sz="1150" b="0" i="0">
                <a:solidFill>
                  <a:srgbClr val="88AABB"/>
                </a:solidFill>
                <a:latin typeface="Arial"/>
              </a:rPr>
              <a:t>ويحقق الأهداف وحده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1" i="0">
                <a:solidFill>
                  <a:srgbClr val="BFFF00"/>
                </a:solidFill>
                <a:latin typeface="Arial"/>
              </a:rPr>
              <a:t>مؤتمر مايكروسوفت بيلد 2026 — ثلاثة تغييرات كبرى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500" b="0" i="0">
                <a:solidFill>
                  <a:srgbClr val="00D2FF"/>
                </a:solidFill>
                <a:latin typeface="Arial"/>
              </a:rPr>
              <a:t>(Microsoft Build 2026 — 3 Major Announcements)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840480" cy="54406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84048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02920" cy="5029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D222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000" b="0" i="0">
                <a:solidFill>
                  <a:srgbClr val="FFFFFF"/>
                </a:solidFill>
                <a:latin typeface="Arial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87451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مهارات الوكيل</a:t>
            </a:r>
          </a:p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(Agent Skills for Power BI)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88920"/>
            <a:ext cx="347472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8346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بناء موديل أعمال كامل وتقارير</a:t>
            </a:r>
          </a:p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بالكلام الطبيعي أو لقطة شاشة</a:t>
            </a:r>
          </a:p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(Screenshot)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5876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موديل الأعمال  (Semantic Model)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891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مقاييس الداكس  (DAX Measures)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194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صفحات التقرير  (Report Pages)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44982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نشر في الفابريك  (Publish to Fabric)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188720"/>
            <a:ext cx="3840480" cy="54406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97679" y="1188720"/>
            <a:ext cx="3840480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34839" y="1280160"/>
            <a:ext cx="502920" cy="502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34839" y="1280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D2229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79" y="1298448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000" b="0" i="0">
                <a:solidFill>
                  <a:srgbClr val="FFFFFF"/>
                </a:solidFill>
                <a:latin typeface="Arial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187451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تطبيقات فابريك</a:t>
            </a:r>
          </a:p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(Fabric Apps for Semantic Models)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59" y="2788920"/>
            <a:ext cx="347472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97679" y="28346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تطبيقات ويب أصيلة فوق موديل</a:t>
            </a:r>
          </a:p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الأعمال — بدون فريق تطوير</a:t>
            </a:r>
          </a:p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(No Dev Team Needed)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385876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واجهة أمامية كاملة  (Full Frontend)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3891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نشر مباشر  (Direct Publish)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9194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مبني على الموديل  (Model-Driven)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544982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في أيام وليس أسابيع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19" y="1188720"/>
            <a:ext cx="3840480" cy="54406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75319" y="1188720"/>
            <a:ext cx="384048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412479" y="1280160"/>
            <a:ext cx="502920" cy="5029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1280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D2229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1298448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000" b="0" i="0">
                <a:solidFill>
                  <a:srgbClr val="FFFFFF"/>
                </a:solidFill>
                <a:latin typeface="Arial"/>
              </a:rPr>
              <a:t>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187451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متجر المهارات</a:t>
            </a:r>
          </a:p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(Skills for Fabric Marketplace)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8199" y="2788920"/>
            <a:ext cx="347472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75319" y="28346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سوق متكامل لأدوات الوكلاء</a:t>
            </a:r>
          </a:p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الذكيين مع حوكمة كاملة</a:t>
            </a:r>
          </a:p>
          <a:p>
            <a:pPr algn="ctr" rtl="1"/>
            <a:r>
              <a:rPr sz="1300" b="0" i="0">
                <a:solidFill>
                  <a:srgbClr val="FFFFFF"/>
                </a:solidFill>
                <a:latin typeface="Arial"/>
              </a:rPr>
              <a:t>(Fully Governed)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199" y="385876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حزم جاهزة  (Ready Packages)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199" y="43891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متوافق مع كل الوكلاء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199" y="49194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حوكمة مؤسسية  (Enterprise Gov.)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9" y="544982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✦ أمان كامل  (Full Security)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5943600" cy="6748272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" y="1371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تدفق عمل مهارات الوكيل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2179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300" b="0" i="0">
                <a:solidFill>
                  <a:srgbClr val="00D2FF"/>
                </a:solidFill>
                <a:latin typeface="Arial"/>
              </a:rPr>
              <a:t>(Agent Skills Workflow)</a:t>
            </a:r>
          </a:p>
        </p:txBody>
      </p:sp>
      <p:pic>
        <p:nvPicPr>
          <p:cNvPr id="6" name="Picture 5" descr="agent_skill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30352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3716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مهارات الوكيل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675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500" b="0" i="0">
                <a:solidFill>
                  <a:srgbClr val="00D2FF"/>
                </a:solidFill>
                <a:latin typeface="Arial"/>
              </a:rPr>
              <a:t>(Agent Skills for Power BI)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97280"/>
            <a:ext cx="5577840" cy="36576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1234440"/>
            <a:ext cx="5760720" cy="960120"/>
          </a:xfrm>
          <a:prstGeom prst="rect">
            <a:avLst/>
          </a:prstGeom>
          <a:solidFill>
            <a:srgbClr val="0D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4864" cy="9601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800" b="1" i="0">
                <a:solidFill>
                  <a:srgbClr val="BFFF00"/>
                </a:solidFill>
                <a:latin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280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Arial"/>
              </a:rPr>
              <a:t>مدخل طبيعي  (Natural Input)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691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نص أو لقطة شاشة  (Text or Screenshot)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13432"/>
            <a:ext cx="5760720" cy="960120"/>
          </a:xfrm>
          <a:prstGeom prst="rect">
            <a:avLst/>
          </a:prstGeom>
          <a:solidFill>
            <a:srgbClr val="0D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26480" y="2313432"/>
            <a:ext cx="54864" cy="9601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23591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800" b="1" i="0">
                <a:solidFill>
                  <a:srgbClr val="00D2FF"/>
                </a:solidFill>
                <a:latin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591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Arial"/>
              </a:rPr>
              <a:t>الوكيل الذكي  (AI Agent)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70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يفهم المطلوب ويخطط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392424"/>
            <a:ext cx="5760720" cy="960120"/>
          </a:xfrm>
          <a:prstGeom prst="rect">
            <a:avLst/>
          </a:prstGeom>
          <a:solidFill>
            <a:srgbClr val="0D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26480" y="3392424"/>
            <a:ext cx="54864" cy="9601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343814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800" b="1" i="0">
                <a:solidFill>
                  <a:srgbClr val="BFFF00"/>
                </a:solidFill>
                <a:latin typeface="Arial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3814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Arial"/>
              </a:rPr>
              <a:t>موديل الأعمال  (Semantic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8496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يبني الجداول والعلاقات والداكس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471416"/>
            <a:ext cx="5760720" cy="960120"/>
          </a:xfrm>
          <a:prstGeom prst="rect">
            <a:avLst/>
          </a:prstGeom>
          <a:solidFill>
            <a:srgbClr val="0D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26480" y="4471416"/>
            <a:ext cx="54864" cy="9601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0" y="45171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800" b="1" i="0">
                <a:solidFill>
                  <a:srgbClr val="00D2FF"/>
                </a:solidFill>
                <a:latin typeface="Arial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171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Arial"/>
              </a:rPr>
              <a:t>بناء التقرير  (Report Building)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92861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صفحات ومرئيات وKPIs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5550408"/>
            <a:ext cx="5760720" cy="960120"/>
          </a:xfrm>
          <a:prstGeom prst="rect">
            <a:avLst/>
          </a:prstGeom>
          <a:solidFill>
            <a:srgbClr val="0D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26480" y="5550408"/>
            <a:ext cx="54864" cy="9601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0" y="55961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800" b="1" i="0">
                <a:solidFill>
                  <a:srgbClr val="BFFF00"/>
                </a:solidFill>
                <a:latin typeface="Arial"/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5961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Arial"/>
              </a:rPr>
              <a:t>نشر في فابريك  (Publish to Fabric)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60076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88AABB"/>
                </a:solidFill>
                <a:latin typeface="Arial"/>
              </a:rPr>
              <a:t>جاهز للاستخدام فوراً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1" i="0">
                <a:solidFill>
                  <a:srgbClr val="00D2FF"/>
                </a:solidFill>
                <a:latin typeface="Arial"/>
              </a:rPr>
              <a:t>تطبيقات فابريك  (Fabric Apps for Semantic Models)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0" i="0">
                <a:solidFill>
                  <a:srgbClr val="FFFFFF"/>
                </a:solidFill>
                <a:latin typeface="Arial"/>
              </a:rPr>
              <a:t>من موديل بيانات إلى تطبيق ويب كامل — بكلام طبيعي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394960" cy="5349240"/>
          </a:xfrm>
          <a:prstGeom prst="rect">
            <a:avLst/>
          </a:prstGeom>
          <a:solidFill>
            <a:srgbClr val="66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64008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1" i="0">
                <a:solidFill>
                  <a:srgbClr val="FF6666"/>
                </a:solidFill>
                <a:latin typeface="Arial"/>
              </a:rPr>
              <a:t>قبل ❌  (Before Fabric Apps)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👨‍💻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202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مطور واجهة أمامية</a:t>
            </a:r>
          </a:p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(Frontend Developer)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أسابيع من التصميم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89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مطور خوادم</a:t>
            </a:r>
          </a:p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(Backend Developer)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18211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API وقواعد البيانات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ديزاينر</a:t>
            </a:r>
          </a:p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(UX Designer)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5079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تجربة المستخدم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26279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واجهة برمجية</a:t>
            </a:r>
          </a:p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(API Integration)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919471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ربط كل شي ببعض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949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3949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AAAA"/>
                </a:solidFill>
                <a:latin typeface="Arial"/>
              </a:rPr>
              <a:t>3-6 أسابيع من الشغل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78815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فريق كامل مطلوب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6576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600" b="1" i="0">
                <a:solidFill>
                  <a:srgbClr val="BFFF00"/>
                </a:solidFill>
                <a:latin typeface="Arial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5394960" cy="5349240"/>
          </a:xfrm>
          <a:prstGeom prst="rect">
            <a:avLst/>
          </a:prstGeom>
          <a:solidFill>
            <a:srgbClr val="0A2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0" y="1234440"/>
            <a:ext cx="53949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13258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1" i="0">
                <a:solidFill>
                  <a:srgbClr val="BFFF00"/>
                </a:solidFill>
                <a:latin typeface="Arial"/>
              </a:rPr>
              <a:t>بعد ✅  (With Fabric Apps)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19202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وكيل ذكي واحد</a:t>
            </a:r>
          </a:p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(One AI Agent)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31343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يفهم طلبك بالكلام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788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🗄️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7889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موديل أعمال جاهز</a:t>
            </a:r>
          </a:p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(Semantic Model)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18211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يستخدمه مباشرة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36576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طلب طبيعي</a:t>
            </a:r>
          </a:p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(Natural Language)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405079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تصف ما تريد فقط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5262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526279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تطبيق ويب كامل</a:t>
            </a:r>
          </a:p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(Fabric-native App)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919471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جاهز ومنشور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3949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000" b="0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53949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AFF88"/>
                </a:solidFill>
                <a:latin typeface="Arial"/>
              </a:rPr>
              <a:t>أيام وليس أسابيع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578815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88AABB"/>
                </a:solidFill>
                <a:latin typeface="Arial"/>
              </a:rPr>
              <a:t>بدون فريق تطوير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400" b="1" i="0">
                <a:solidFill>
                  <a:srgbClr val="BFFF00"/>
                </a:solidFill>
                <a:latin typeface="Arial"/>
              </a:rPr>
              <a:t>بروتوكول السياق النموذجي  (MCP — Model Context Protocol)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600" b="0" i="0">
                <a:solidFill>
                  <a:srgbClr val="FFFFFF"/>
                </a:solidFill>
                <a:latin typeface="Arial"/>
              </a:rPr>
              <a:t>زي USB-C للذكاء الاصطناعي — معيار توصيل موحّد  (Universal AI Protocol)</a:t>
            </a:r>
          </a:p>
        </p:txBody>
      </p:sp>
      <p:pic>
        <p:nvPicPr>
          <p:cNvPr id="5" name="Picture 4" descr="mcp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1100"/>
            <a:ext cx="5181600" cy="5181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066800"/>
            <a:ext cx="12188952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35040" y="1143000"/>
            <a:ext cx="5788152" cy="24688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35040" y="1143000"/>
            <a:ext cx="54864" cy="24688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0" y="1211580"/>
            <a:ext cx="55138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00D2FF"/>
                </a:solidFill>
                <a:latin typeface="Arial"/>
              </a:rPr>
              <a:t>خادم التحليل البعيد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66878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100" b="0" i="0">
                <a:solidFill>
                  <a:srgbClr val="88AABB"/>
                </a:solidFill>
                <a:latin typeface="Arial"/>
              </a:rPr>
              <a:t>(Remote Power BI MCP Server)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05740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يتصل بموديلات الأعمال المنشورة  (Published Semantic Models)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42316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يولّد استعلامات داكس تلقائياً  (Auto DAX Queries)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78892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يجاوب أسئلة بيانات بالكلام الطبيعي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15468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يحترم صلاحيات الأمان  (Row-Level Security)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840480"/>
            <a:ext cx="5788152" cy="24688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35040" y="3840480"/>
            <a:ext cx="54864" cy="246888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3909060"/>
            <a:ext cx="55138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BFFF00"/>
                </a:solidFill>
                <a:latin typeface="Arial"/>
              </a:rPr>
              <a:t>خادم التطوير المحلي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36626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100" b="0" i="0">
                <a:solidFill>
                  <a:srgbClr val="88AABB"/>
                </a:solidFill>
                <a:latin typeface="Arial"/>
              </a:rPr>
              <a:t>(Local Power BI Modeling MCP Server)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475488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يشتغل على ملفات المشروع المحلية  (.pbip files)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12064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تغيير وعمليات جماعية  (Bulk Operations)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48640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إنشاء مقاييس داكس  (DAX Measures) تلقائياً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5852160"/>
            <a:ext cx="5513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Arial"/>
              </a:rPr>
              <a:t>• يعمل مع بيئات التطوير  (VS Code / Claude Desktop)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00D2FF"/>
                </a:solidFill>
                <a:latin typeface="Arial"/>
              </a:rPr>
              <a:t>ذكاء فابريك  (Fabric IQ)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0" i="0">
                <a:solidFill>
                  <a:srgbClr val="FFFFFF"/>
                </a:solidFill>
                <a:latin typeface="Arial"/>
              </a:rPr>
              <a:t>طبقة الذكاء الدلالي للمنصة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21208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486400" cy="1536192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4864" cy="153619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BFFF00"/>
                </a:solidFill>
                <a:latin typeface="Arial"/>
              </a:rPr>
              <a:t>المشكلة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الذكاء الاصطناعي بدون سياق يخمّن</a:t>
            </a:r>
          </a:p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على أساس أسماء الجداول — وليس منطق الأعمال الحقيقي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71800"/>
            <a:ext cx="5486400" cy="1536192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971800"/>
            <a:ext cx="54864" cy="153619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00D2FF"/>
                </a:solidFill>
                <a:latin typeface="Arial"/>
              </a:rPr>
              <a:t>الحل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ذكاء فابريك يوحّد المقاييس والعلاقات</a:t>
            </a:r>
          </a:p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وتعريفات الأعمال في طبقة واحدة مشتركة  (Unified Semantic Layer)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63440"/>
            <a:ext cx="5486400" cy="1536192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4663440"/>
            <a:ext cx="54864" cy="153619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754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BFFF00"/>
                </a:solidFill>
                <a:latin typeface="Arial"/>
              </a:rPr>
              <a:t>النتيجة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كل الوكلاء يشتغلون على نفس فهم الأعمال</a:t>
            </a:r>
          </a:p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بدون تناقض أو أخطاء  (No Contradictions)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263640"/>
            <a:ext cx="5486400" cy="457200"/>
          </a:xfrm>
          <a:prstGeom prst="rect">
            <a:avLst/>
          </a:prstGeom>
          <a:solidFill>
            <a:srgbClr val="0D22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691640" cy="411480"/>
          </a:xfrm>
          <a:prstGeom prst="rect">
            <a:avLst/>
          </a:prstGeom>
          <a:solidFill>
            <a:srgbClr val="0A181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28192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1" i="0">
                <a:solidFill>
                  <a:srgbClr val="00D2FF"/>
                </a:solidFill>
                <a:latin typeface="Arial"/>
              </a:rPr>
              <a:t>Work IQ  (M365)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6263640"/>
            <a:ext cx="1691640" cy="411480"/>
          </a:xfrm>
          <a:prstGeom prst="rect">
            <a:avLst/>
          </a:prstGeom>
          <a:solidFill>
            <a:srgbClr val="0A181F"/>
          </a:solidFill>
          <a:ln w="19050">
            <a:solidFill>
              <a:srgbClr val="B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286000" y="628192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1" i="0">
                <a:solidFill>
                  <a:srgbClr val="BFFF00"/>
                </a:solidFill>
                <a:latin typeface="Arial"/>
              </a:rPr>
              <a:t>Fabric IQ  (Data)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6263640"/>
            <a:ext cx="1691640" cy="411480"/>
          </a:xfrm>
          <a:prstGeom prst="rect">
            <a:avLst/>
          </a:prstGeom>
          <a:solidFill>
            <a:srgbClr val="0A181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0" y="628192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1" i="0">
                <a:solidFill>
                  <a:srgbClr val="00D2FF"/>
                </a:solidFill>
                <a:latin typeface="Arial"/>
              </a:rPr>
              <a:t>Foundry IQ  (Docs)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54864"/>
            <a:ext cx="6153912" cy="6748272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0" y="1371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700" b="1" i="0">
                <a:solidFill>
                  <a:srgbClr val="BFFF00"/>
                </a:solidFill>
                <a:latin typeface="Arial"/>
              </a:rPr>
              <a:t>منظومة مايكروسوفت آي كيو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62179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300" b="0" i="0">
                <a:solidFill>
                  <a:srgbClr val="00D2FF"/>
                </a:solidFill>
                <a:latin typeface="Arial"/>
              </a:rPr>
              <a:t>(Microsoft IQ Ecosystem)</a:t>
            </a:r>
          </a:p>
        </p:txBody>
      </p:sp>
      <p:pic>
        <p:nvPicPr>
          <p:cNvPr id="28" name="Picture 27" descr="fabric_iq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051560"/>
            <a:ext cx="5623560" cy="56235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1" i="0">
                <a:solidFill>
                  <a:srgbClr val="BFFF00"/>
                </a:solidFill>
                <a:latin typeface="Arial"/>
              </a:rPr>
              <a:t>ماذا يعني هذا التطور عليك؟  (What Does This Mean for You?)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577840" cy="283464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57784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5400" b="1" i="0">
                <a:solidFill>
                  <a:srgbClr val="BFFF00"/>
                </a:solidFill>
                <a:latin typeface="Arial"/>
              </a:rP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051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تخفيض في الأعمال المتكررة</a:t>
            </a:r>
          </a:p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(Reduction in Repetitive Work)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521208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88AABB"/>
                </a:solidFill>
                <a:latin typeface="Arial"/>
              </a:rPr>
              <a:t>إنجازات 2026 من المؤسسات اللي طبّقت الأجنتس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914400"/>
            <a:ext cx="5577840" cy="283464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914400"/>
            <a:ext cx="5577840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005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5400" b="1" i="0">
                <a:solidFill>
                  <a:srgbClr val="00D2FF"/>
                </a:solidFill>
                <a:latin typeface="Arial"/>
              </a:rPr>
              <a:t>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051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موديل الأعمال هو المهارة الأهم</a:t>
            </a:r>
          </a:p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(Semantic Model is King)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148840"/>
            <a:ext cx="521208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2286000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88AABB"/>
                </a:solidFill>
                <a:latin typeface="Arial"/>
              </a:rPr>
              <a:t>الوكيل يكتب الداكس — لكن مين يبني الموديل الصح؟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77639"/>
            <a:ext cx="5577840" cy="283464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977639"/>
            <a:ext cx="557784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40690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5400" b="1" i="0">
                <a:solidFill>
                  <a:srgbClr val="BFFF00"/>
                </a:solidFill>
                <a:latin typeface="Arial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114799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دور المحلل يتطور مش يختفي</a:t>
            </a:r>
          </a:p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(The Analyst Role Evolves)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79"/>
            <a:ext cx="521208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349239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88AABB"/>
                </a:solidFill>
                <a:latin typeface="Arial"/>
              </a:rPr>
              <a:t>من تنفيذ المهام → الإشراف والجودة والاستراتيجية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977639"/>
            <a:ext cx="5577840" cy="283464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3977639"/>
            <a:ext cx="5577840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40690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5400" b="1" i="0">
                <a:solidFill>
                  <a:srgbClr val="00D2FF"/>
                </a:solidFill>
                <a:latin typeface="Arial"/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114799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الحوكمة صارت ميزة تنافسية</a:t>
            </a:r>
          </a:p>
          <a:p>
            <a:pPr algn="r" rtl="1"/>
            <a:r>
              <a:rPr sz="1500" b="1" i="0">
                <a:solidFill>
                  <a:srgbClr val="FFFFFF"/>
                </a:solidFill>
                <a:latin typeface="Arial"/>
              </a:rPr>
              <a:t>(Governance = Competitive Edge)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5212079"/>
            <a:ext cx="521208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5349239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88AABB"/>
                </a:solidFill>
                <a:latin typeface="Arial"/>
              </a:rPr>
              <a:t>المؤسسات ذات الحوكمة الجيدة ستكسب السباق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Arial"/>
              </a:rPr>
              <a:t>خلاصة الكلام  (Summary)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30000" cy="128016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64008" cy="12801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594360" cy="5943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0D2229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94183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BFFF00"/>
                </a:solidFill>
                <a:latin typeface="Arial"/>
              </a:rPr>
              <a:t>مهارات الوكيل  (Agent Skills for Power BI)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3560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Arial"/>
              </a:rPr>
              <a:t>بناء موديل أعمال كامل وتقارير بالكلام الطبيعي أو لقطة شاشة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143000"/>
            <a:ext cx="2423160" cy="594360"/>
          </a:xfrm>
          <a:prstGeom prst="rect">
            <a:avLst/>
          </a:prstGeom>
          <a:solidFill>
            <a:srgbClr val="0D2229"/>
          </a:solidFill>
          <a:ln w="19050">
            <a:solidFill>
              <a:srgbClr val="B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81160" y="1170432"/>
            <a:ext cx="2331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i="0">
                <a:solidFill>
                  <a:srgbClr val="BFFF00"/>
                </a:solidFill>
                <a:latin typeface="Arial"/>
              </a:rPr>
              <a:t>موديل أعمال + داكس + تقرير + نشر = وكيل واحد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86000"/>
            <a:ext cx="11430000" cy="128016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286000"/>
            <a:ext cx="64008" cy="12801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468880"/>
            <a:ext cx="59436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0D2229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359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00D2FF"/>
                </a:solidFill>
                <a:latin typeface="Arial"/>
              </a:rPr>
              <a:t>تطبيقات فابريك  (Fabric Apps for Semantic Models)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85292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Arial"/>
              </a:rPr>
              <a:t>تطبيق ويب أصيل فوق موديل البيانات — بدون فريق تطوير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560320"/>
            <a:ext cx="2423160" cy="594360"/>
          </a:xfrm>
          <a:prstGeom prst="rect">
            <a:avLst/>
          </a:prstGeom>
          <a:solidFill>
            <a:srgbClr val="0D2229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1160" y="2587752"/>
            <a:ext cx="2331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i="0">
                <a:solidFill>
                  <a:srgbClr val="00D2FF"/>
                </a:solidFill>
                <a:latin typeface="Arial"/>
              </a:rPr>
              <a:t>أيام بدل أسابيع — وكيل ذكي واحد يبني كل شي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03320"/>
            <a:ext cx="11430000" cy="128016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03320"/>
            <a:ext cx="64008" cy="12801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886200"/>
            <a:ext cx="594360" cy="5943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8862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0D2229"/>
                </a:solidFill>
                <a:latin typeface="Arial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77647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BFFF00"/>
                </a:solidFill>
                <a:latin typeface="Arial"/>
              </a:rPr>
              <a:t>بروتوكول السياق النموذجي  (MCP Servers)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27024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Arial"/>
              </a:rPr>
              <a:t>جسر موحّد بين الوكلاء وأنظمة باور بي آي وفابريك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3977640"/>
            <a:ext cx="2423160" cy="594360"/>
          </a:xfrm>
          <a:prstGeom prst="rect">
            <a:avLst/>
          </a:prstGeom>
          <a:solidFill>
            <a:srgbClr val="0D2229"/>
          </a:solidFill>
          <a:ln w="19050">
            <a:solidFill>
              <a:srgbClr val="BF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81160" y="4005072"/>
            <a:ext cx="2331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i="0">
                <a:solidFill>
                  <a:srgbClr val="BFFF00"/>
                </a:solidFill>
                <a:latin typeface="Arial"/>
              </a:rPr>
              <a:t>خادم بعيد للتحليل + خادم محلي للتطوير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5120640"/>
            <a:ext cx="64008" cy="12801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59436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0D2229"/>
                </a:solidFill>
                <a:latin typeface="Arial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19379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00D2FF"/>
                </a:solidFill>
                <a:latin typeface="Arial"/>
              </a:rPr>
              <a:t>ذكاء فابريك  (Fabric IQ)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68756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Arial"/>
              </a:rPr>
              <a:t>الطبقة الذكية الأساسية — كل الوكلاء يفهمون الأعمال بنفس الطريقة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5394960"/>
            <a:ext cx="2423160" cy="594360"/>
          </a:xfrm>
          <a:prstGeom prst="rect">
            <a:avLst/>
          </a:prstGeom>
          <a:solidFill>
            <a:srgbClr val="0D2229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5422392"/>
            <a:ext cx="2331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 i="0">
                <a:solidFill>
                  <a:srgbClr val="00D2FF"/>
                </a:solidFill>
                <a:latin typeface="Arial"/>
              </a:rPr>
              <a:t>Work IQ + Fabric IQ + Foundry IQ = Microsoft IQ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4864"/>
            <a:ext cx="73152" cy="674827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2115800" y="54864"/>
            <a:ext cx="73152" cy="674827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800" b="1" i="0">
                <a:solidFill>
                  <a:srgbClr val="FFFFFF"/>
                </a:solidFill>
                <a:latin typeface="Arial"/>
              </a:rPr>
              <a:t>عصر الذكاء الاصطناعي الوكيل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BFFF00"/>
                </a:solidFill>
                <a:latin typeface="Arial"/>
              </a:rPr>
              <a:t>(Agentic AI Era)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331720"/>
            <a:ext cx="941832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400" b="1" i="0">
                <a:solidFill>
                  <a:srgbClr val="BFFF00"/>
                </a:solidFill>
                <a:latin typeface="Arial"/>
              </a:rPr>
              <a:t>ما جاء ليحل محلك — جاء ليضاعف قدرتك 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37560"/>
            <a:ext cx="2651760" cy="15544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2651760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 i="0">
                <a:solidFill>
                  <a:srgbClr val="BFFF00"/>
                </a:solidFill>
                <a:latin typeface="Arial"/>
              </a:rPr>
              <a:t>✅</a:t>
            </a:r>
          </a:p>
          <a:p>
            <a:pPr algn="ctr" rtl="0"/>
            <a:r>
              <a:rPr sz="1400" b="1" i="0">
                <a:solidFill>
                  <a:srgbClr val="BFFF00"/>
                </a:solidFill>
                <a:latin typeface="Arial"/>
              </a:rPr>
              <a:t>مهارات الوكيل</a:t>
            </a:r>
          </a:p>
          <a:p>
            <a:pPr algn="ctr" rtl="0"/>
            <a:r>
              <a:rPr sz="1400" b="1" i="0">
                <a:solidFill>
                  <a:srgbClr val="BFFF00"/>
                </a:solidFill>
                <a:latin typeface="Arial"/>
              </a:rPr>
              <a:t>(Agent Skills)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3337560"/>
            <a:ext cx="2651760" cy="15544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66160" y="3337560"/>
            <a:ext cx="265176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66160" y="338328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 i="0">
                <a:solidFill>
                  <a:srgbClr val="00D2FF"/>
                </a:solidFill>
                <a:latin typeface="Arial"/>
              </a:rPr>
              <a:t>✅</a:t>
            </a:r>
          </a:p>
          <a:p>
            <a:pPr algn="ctr" rtl="0"/>
            <a:r>
              <a:rPr sz="1400" b="1" i="0">
                <a:solidFill>
                  <a:srgbClr val="00D2FF"/>
                </a:solidFill>
                <a:latin typeface="Arial"/>
              </a:rPr>
              <a:t>تطبيقات فابريك</a:t>
            </a:r>
          </a:p>
          <a:p>
            <a:pPr algn="ctr" rtl="0"/>
            <a:r>
              <a:rPr sz="1400" b="1" i="0">
                <a:solidFill>
                  <a:srgbClr val="00D2FF"/>
                </a:solidFill>
                <a:latin typeface="Arial"/>
              </a:rPr>
              <a:t>(Fabric Apps)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2651760" cy="15544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3337560"/>
            <a:ext cx="2651760" cy="54864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338328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 i="0">
                <a:solidFill>
                  <a:srgbClr val="BFFF00"/>
                </a:solidFill>
                <a:latin typeface="Arial"/>
              </a:rPr>
              <a:t>✅</a:t>
            </a:r>
          </a:p>
          <a:p>
            <a:pPr algn="ctr" rtl="0"/>
            <a:r>
              <a:rPr sz="1400" b="1" i="0">
                <a:solidFill>
                  <a:srgbClr val="BFFF00"/>
                </a:solidFill>
                <a:latin typeface="Arial"/>
              </a:rPr>
              <a:t>بروتوكول MCP</a:t>
            </a:r>
          </a:p>
          <a:p>
            <a:pPr algn="ctr" rtl="0"/>
            <a:r>
              <a:rPr sz="1400" b="1" i="0">
                <a:solidFill>
                  <a:srgbClr val="BFFF00"/>
                </a:solidFill>
                <a:latin typeface="Arial"/>
              </a:rPr>
              <a:t>(MCP Protocol)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337560"/>
            <a:ext cx="2651760" cy="1554480"/>
          </a:xfrm>
          <a:prstGeom prst="rect">
            <a:avLst/>
          </a:prstGeom>
          <a:solidFill>
            <a:srgbClr val="0A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235440" y="3337560"/>
            <a:ext cx="265176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35440" y="338328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 i="0">
                <a:solidFill>
                  <a:srgbClr val="00D2FF"/>
                </a:solidFill>
                <a:latin typeface="Arial"/>
              </a:rPr>
              <a:t>✅</a:t>
            </a:r>
          </a:p>
          <a:p>
            <a:pPr algn="ctr" rtl="0"/>
            <a:r>
              <a:rPr sz="1400" b="1" i="0">
                <a:solidFill>
                  <a:srgbClr val="00D2FF"/>
                </a:solidFill>
                <a:latin typeface="Arial"/>
              </a:rPr>
              <a:t>ذكاء فابريك</a:t>
            </a:r>
          </a:p>
          <a:p>
            <a:pPr algn="ctr" rtl="0"/>
            <a:r>
              <a:rPr sz="1400" b="1" i="0">
                <a:solidFill>
                  <a:srgbClr val="00D2FF"/>
                </a:solidFill>
                <a:latin typeface="Arial"/>
              </a:rPr>
              <a:t>(Fabric IQ)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029200"/>
            <a:ext cx="9418320" cy="36576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12064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200" b="1" i="0">
                <a:solidFill>
                  <a:srgbClr val="FFFFFF"/>
                </a:solidFill>
                <a:latin typeface="Arial"/>
              </a:rPr>
              <a:t>اشترك في القناة وخلّي اللايك ❤️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692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100" b="0" i="0">
                <a:solidFill>
                  <a:srgbClr val="88AA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f6dbec8-95a8-4638-9f5f-bd076536645c}" enabled="1" method="Standard" siteId="{5dbf1add-202a-4b8d-815b-bf0fb024e03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978</Words>
  <Application>Microsoft Office PowerPoint</Application>
  <PresentationFormat>Custom</PresentationFormat>
  <Paragraphs>225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ABUSHANAB, Hakam A K</cp:lastModifiedBy>
  <cp:revision>2</cp:revision>
  <dcterms:created xsi:type="dcterms:W3CDTF">2013-01-27T09:14:16Z</dcterms:created>
  <dcterms:modified xsi:type="dcterms:W3CDTF">2026-08-11T20:52:41Z</dcterms:modified>
  <cp:category/>
</cp:coreProperties>
</file>