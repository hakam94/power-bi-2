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748272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0" y="54864"/>
            <a:ext cx="5971032" cy="6748272"/>
          </a:xfrm>
          <a:prstGeom prst="rect">
            <a:avLst/>
          </a:prstGeom>
          <a:solidFill>
            <a:srgbClr val="0A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2000" b="0" i="0">
                <a:solidFill>
                  <a:srgbClr val="00D2FF"/>
                </a:solidFill>
                <a:latin typeface="Arial"/>
              </a:rPr>
              <a:t>Hakam Data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6459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400" b="0" i="0">
                <a:solidFill>
                  <a:srgbClr val="88AABB"/>
                </a:solidFill>
                <a:latin typeface="Arial"/>
              </a:rPr>
              <a:t>@HakamDataStudio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5029200" cy="36576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28600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600" b="0" i="0">
                <a:solidFill>
                  <a:srgbClr val="88AABB"/>
                </a:solidFill>
                <a:latin typeface="Arial"/>
              </a:rPr>
              <a:t>مؤتمر مايكروسوفت بيلد 2026</a:t>
            </a:r>
          </a:p>
          <a:p>
            <a:pPr algn="l" rtl="0"/>
            <a:r>
              <a:rPr sz="1600" b="0" i="0">
                <a:solidFill>
                  <a:srgbClr val="88AABB"/>
                </a:solidFill>
                <a:latin typeface="Arial"/>
              </a:rPr>
              <a:t>(Microsoft Build 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600" b="0" i="0">
                <a:solidFill>
                  <a:srgbClr val="BFFF00"/>
                </a:solidFill>
                <a:latin typeface="Arial"/>
              </a:rPr>
              <a:t>شرح كامل بالعربي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91440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600" b="1" i="0">
                <a:solidFill>
                  <a:srgbClr val="FFFFFF"/>
                </a:solidFill>
                <a:latin typeface="Arial"/>
              </a:rPr>
              <a:t>عصر الذكاء</a:t>
            </a:r>
          </a:p>
          <a:p>
            <a:pPr algn="r" rtl="1"/>
            <a:r>
              <a:rPr sz="4600" b="1" i="0">
                <a:solidFill>
                  <a:srgbClr val="FFFFFF"/>
                </a:solidFill>
                <a:latin typeface="Arial"/>
              </a:rPr>
              <a:t>الاصطناعي الوكيل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3832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 i="0">
                <a:solidFill>
                  <a:srgbClr val="BFFF00"/>
                </a:solidFill>
                <a:latin typeface="Arial"/>
              </a:rPr>
              <a:t>(Agentic AI Era)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114800"/>
            <a:ext cx="53035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25196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00D2FF"/>
                </a:solidFill>
                <a:latin typeface="Arial"/>
              </a:rPr>
              <a:t>في باور بي آي ومايكروسوفت فابريك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846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88AABB"/>
                </a:solidFill>
                <a:latin typeface="Arial"/>
              </a:rPr>
              <a:t>(Power BI &amp; Microsoft Fabric)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100" b="1" i="0">
                <a:solidFill>
                  <a:srgbClr val="00D2FF"/>
                </a:solidFill>
                <a:latin typeface="Arial"/>
              </a:rPr>
              <a:t>@HakamDataStudio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100" b="0" i="0">
                <a:solidFill>
                  <a:srgbClr val="88AABB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gentic_stac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32918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200400"/>
            <a:ext cx="12188952" cy="3657600"/>
          </a:xfrm>
          <a:prstGeom prst="rect">
            <a:avLst/>
          </a:prstGeom>
          <a:solidFill>
            <a:srgbClr val="0D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0"/>
            <a:ext cx="12188952" cy="45720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600" b="1" i="0">
                <a:solidFill>
                  <a:srgbClr val="FFFFFF"/>
                </a:solidFill>
                <a:latin typeface="Arial"/>
              </a:rPr>
              <a:t>التطور: ثلاث مراحل وصلنا إلى عصر الوكلاء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86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/>
            <a:r>
              <a:rPr sz="1500" b="0" i="0">
                <a:solidFill>
                  <a:srgbClr val="00D2FF"/>
                </a:solidFill>
                <a:latin typeface="Arial"/>
              </a:rPr>
              <a:t>(Evolution: From Dashboards to Autonomous AI Agents)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343400"/>
            <a:ext cx="3794760" cy="2286000"/>
          </a:xfrm>
          <a:prstGeom prst="rect">
            <a:avLst/>
          </a:prstGeom>
          <a:solidFill>
            <a:srgbClr val="0A181F"/>
          </a:solidFill>
          <a:ln w="19050">
            <a:solidFill>
              <a:srgbClr val="B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389120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300" b="1" i="0">
                <a:solidFill>
                  <a:srgbClr val="BFFF00"/>
                </a:solidFill>
                <a:latin typeface="Arial"/>
              </a:rPr>
              <a:t>+20 سنة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754880"/>
            <a:ext cx="3794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600" b="1" i="0">
                <a:solidFill>
                  <a:srgbClr val="FFFFFF"/>
                </a:solidFill>
                <a:latin typeface="Arial"/>
              </a:rPr>
              <a:t>المرحلة الأولى</a:t>
            </a:r>
          </a:p>
          <a:p>
            <a:pPr algn="ctr" rtl="0"/>
            <a:r>
              <a:rPr sz="1600" b="1" i="0">
                <a:solidFill>
                  <a:srgbClr val="FFFFFF"/>
                </a:solidFill>
                <a:latin typeface="Arial"/>
              </a:rPr>
              <a:t>(Dashboard Era)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577840"/>
            <a:ext cx="3794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88AABB"/>
                </a:solidFill>
                <a:latin typeface="Arial"/>
              </a:rPr>
              <a:t>لوحات ثابتة — الإنسان يسأل</a:t>
            </a:r>
          </a:p>
          <a:p>
            <a:pPr algn="ctr" rtl="1"/>
            <a:r>
              <a:rPr sz="1300" b="0" i="0">
                <a:solidFill>
                  <a:srgbClr val="88AABB"/>
                </a:solidFill>
                <a:latin typeface="Arial"/>
              </a:rPr>
              <a:t>والنظام يجاوب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4343400"/>
            <a:ext cx="3794760" cy="2286000"/>
          </a:xfrm>
          <a:prstGeom prst="rect">
            <a:avLst/>
          </a:prstGeom>
          <a:solidFill>
            <a:srgbClr val="0A181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4389120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300" b="1" i="0">
                <a:solidFill>
                  <a:srgbClr val="00D2FF"/>
                </a:solidFill>
                <a:latin typeface="Arial"/>
              </a:rPr>
              <a:t>2022-2025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4754880"/>
            <a:ext cx="3794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600" b="1" i="0">
                <a:solidFill>
                  <a:srgbClr val="FFFFFF"/>
                </a:solidFill>
                <a:latin typeface="Arial"/>
              </a:rPr>
              <a:t>المرحلة الثانية</a:t>
            </a:r>
          </a:p>
          <a:p>
            <a:pPr algn="ctr" rtl="0"/>
            <a:r>
              <a:rPr sz="1600" b="1" i="0">
                <a:solidFill>
                  <a:srgbClr val="FFFFFF"/>
                </a:solidFill>
                <a:latin typeface="Arial"/>
              </a:rPr>
              <a:t>(Copilot Era)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5577840"/>
            <a:ext cx="3794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88AABB"/>
                </a:solidFill>
                <a:latin typeface="Arial"/>
              </a:rPr>
              <a:t>مساعد ذكي — يجاوب الأسئلة</a:t>
            </a:r>
          </a:p>
          <a:p>
            <a:pPr algn="ctr" rtl="1"/>
            <a:r>
              <a:rPr sz="1300" b="0" i="0">
                <a:solidFill>
                  <a:srgbClr val="88AABB"/>
                </a:solidFill>
                <a:latin typeface="Arial"/>
              </a:rPr>
              <a:t>بالكلام الطبيعي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4343400"/>
            <a:ext cx="3794760" cy="2286000"/>
          </a:xfrm>
          <a:prstGeom prst="rect">
            <a:avLst/>
          </a:prstGeom>
          <a:solidFill>
            <a:srgbClr val="0A181F"/>
          </a:solidFill>
          <a:ln w="19050">
            <a:solidFill>
              <a:srgbClr val="B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389120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300" b="1" i="0">
                <a:solidFill>
                  <a:srgbClr val="BFFF00"/>
                </a:solidFill>
                <a:latin typeface="Arial"/>
              </a:rPr>
              <a:t>2026 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754880"/>
            <a:ext cx="3794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600" b="1" i="0">
                <a:solidFill>
                  <a:srgbClr val="FFFFFF"/>
                </a:solidFill>
                <a:latin typeface="Arial"/>
              </a:rPr>
              <a:t>المرحلة الثالثة</a:t>
            </a:r>
          </a:p>
          <a:p>
            <a:pPr algn="ctr" rtl="0"/>
            <a:r>
              <a:rPr sz="1600" b="1" i="0">
                <a:solidFill>
                  <a:srgbClr val="FFFFFF"/>
                </a:solidFill>
                <a:latin typeface="Arial"/>
              </a:rPr>
              <a:t>(Agentic AI Era)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577840"/>
            <a:ext cx="3794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88AABB"/>
                </a:solidFill>
                <a:latin typeface="Arial"/>
              </a:rPr>
              <a:t>وكيل مستقل — يخطط وينفذ</a:t>
            </a:r>
          </a:p>
          <a:p>
            <a:pPr algn="ctr" rtl="1"/>
            <a:r>
              <a:rPr sz="1300" b="0" i="0">
                <a:solidFill>
                  <a:srgbClr val="88AABB"/>
                </a:solidFill>
                <a:latin typeface="Arial"/>
              </a:rPr>
              <a:t>ويحقق الأهداف وحده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100" b="1" i="0">
                <a:solidFill>
                  <a:srgbClr val="00D2FF"/>
                </a:solidFill>
                <a:latin typeface="Arial"/>
              </a:rPr>
              <a:t>@HakamDataStudio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100" b="0" i="0">
                <a:solidFill>
                  <a:srgbClr val="88AABB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600" b="1" i="0">
                <a:solidFill>
                  <a:srgbClr val="BFFF00"/>
                </a:solidFill>
                <a:latin typeface="Arial"/>
              </a:rPr>
              <a:t>مؤتمر مايكروسوفت بيلد 2026 — ثلاثة تغييرات كبرى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/>
            <a:r>
              <a:rPr sz="1500" b="0" i="0">
                <a:solidFill>
                  <a:srgbClr val="00D2FF"/>
                </a:solidFill>
                <a:latin typeface="Arial"/>
              </a:rPr>
              <a:t>(Microsoft Build 2026 — 3 Major Announcements)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3840480" cy="5440680"/>
          </a:xfrm>
          <a:prstGeom prst="rect">
            <a:avLst/>
          </a:prstGeom>
          <a:solidFill>
            <a:srgbClr val="0A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3840480" cy="64008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02920" cy="502920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600" b="1" i="0">
                <a:solidFill>
                  <a:srgbClr val="0D2229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298448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3000" b="0" i="0">
                <a:solidFill>
                  <a:srgbClr val="FFFFFF"/>
                </a:solidFill>
                <a:latin typeface="Arial"/>
              </a:rP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874519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600" b="1" i="0">
                <a:solidFill>
                  <a:srgbClr val="BFFF00"/>
                </a:solidFill>
                <a:latin typeface="Arial"/>
              </a:rPr>
              <a:t>مهارات الوكيل</a:t>
            </a:r>
          </a:p>
          <a:p>
            <a:pPr algn="ctr" rtl="0"/>
            <a:r>
              <a:rPr sz="1600" b="1" i="0">
                <a:solidFill>
                  <a:srgbClr val="BFFF00"/>
                </a:solidFill>
                <a:latin typeface="Arial"/>
              </a:rPr>
              <a:t>(Agent Skills for Power BI)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88920"/>
            <a:ext cx="3474720" cy="27432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83464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FFFFFF"/>
                </a:solidFill>
                <a:latin typeface="Arial"/>
              </a:rPr>
              <a:t>بناء موديل أعمال كامل وتقارير</a:t>
            </a:r>
          </a:p>
          <a:p>
            <a:pPr algn="ctr" rtl="1"/>
            <a:r>
              <a:rPr sz="1300" b="0" i="0">
                <a:solidFill>
                  <a:srgbClr val="FFFFFF"/>
                </a:solidFill>
                <a:latin typeface="Arial"/>
              </a:rPr>
              <a:t>بالكلام الطبيعي أو لقطة شاشة</a:t>
            </a:r>
          </a:p>
          <a:p>
            <a:pPr algn="ctr" rtl="1"/>
            <a:r>
              <a:rPr sz="1300" b="0" i="0">
                <a:solidFill>
                  <a:srgbClr val="FFFFFF"/>
                </a:solidFill>
                <a:latin typeface="Arial"/>
              </a:rPr>
              <a:t>(Screenshot)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5876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88AABB"/>
                </a:solidFill>
                <a:latin typeface="Arial"/>
              </a:rPr>
              <a:t>✦ موديل الأعمال  (Semantic Model)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891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88AABB"/>
                </a:solidFill>
                <a:latin typeface="Arial"/>
              </a:rPr>
              <a:t>✦ مقاييس الداكس  (DAX Measures)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91947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88AABB"/>
                </a:solidFill>
                <a:latin typeface="Arial"/>
              </a:rPr>
              <a:t>✦ صفحات التقرير  (Report Pages)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449823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88AABB"/>
                </a:solidFill>
                <a:latin typeface="Arial"/>
              </a:rPr>
              <a:t>✦ نشر في الفابريك  (Publish to Fabric)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1188720"/>
            <a:ext cx="3840480" cy="5440680"/>
          </a:xfrm>
          <a:prstGeom prst="rect">
            <a:avLst/>
          </a:prstGeom>
          <a:solidFill>
            <a:srgbClr val="0A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79" y="1188720"/>
            <a:ext cx="3840480" cy="640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39" y="1280160"/>
            <a:ext cx="50292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39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600" b="1" i="0">
                <a:solidFill>
                  <a:srgbClr val="0D2229"/>
                </a:solidFill>
                <a:latin typeface="Arial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79" y="1298448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3000" b="0" i="0">
                <a:solidFill>
                  <a:srgbClr val="FFFFFF"/>
                </a:solidFill>
                <a:latin typeface="Arial"/>
              </a:rPr>
              <a:t>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79" y="1874519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600" b="1" i="0">
                <a:solidFill>
                  <a:srgbClr val="00D2FF"/>
                </a:solidFill>
                <a:latin typeface="Arial"/>
              </a:rPr>
              <a:t>تطبيقات فابريك</a:t>
            </a:r>
          </a:p>
          <a:p>
            <a:pPr algn="ctr" rtl="0"/>
            <a:r>
              <a:rPr sz="1600" b="1" i="0">
                <a:solidFill>
                  <a:srgbClr val="00D2FF"/>
                </a:solidFill>
                <a:latin typeface="Arial"/>
              </a:rPr>
              <a:t>(Fabric Apps for Semantic Models)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59" y="2788920"/>
            <a:ext cx="347472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79" y="283464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FFFFFF"/>
                </a:solidFill>
                <a:latin typeface="Arial"/>
              </a:rPr>
              <a:t>تطبيقات ويب أصيلة فوق موديل</a:t>
            </a:r>
          </a:p>
          <a:p>
            <a:pPr algn="ctr" rtl="1"/>
            <a:r>
              <a:rPr sz="1300" b="0" i="0">
                <a:solidFill>
                  <a:srgbClr val="FFFFFF"/>
                </a:solidFill>
                <a:latin typeface="Arial"/>
              </a:rPr>
              <a:t>الأعمال — بدون فريق تطوير</a:t>
            </a:r>
          </a:p>
          <a:p>
            <a:pPr algn="ctr" rtl="1"/>
            <a:r>
              <a:rPr sz="1300" b="0" i="0">
                <a:solidFill>
                  <a:srgbClr val="FFFFFF"/>
                </a:solidFill>
                <a:latin typeface="Arial"/>
              </a:rPr>
              <a:t>(No Dev Team Needed)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385876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88AABB"/>
                </a:solidFill>
                <a:latin typeface="Arial"/>
              </a:rPr>
              <a:t>✦ واجهة أمامية كاملة  (Full Frontend)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43891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88AABB"/>
                </a:solidFill>
                <a:latin typeface="Arial"/>
              </a:rPr>
              <a:t>✦ نشر مباشر  (Direct Publish)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491947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88AABB"/>
                </a:solidFill>
                <a:latin typeface="Arial"/>
              </a:rPr>
              <a:t>✦ مبني على الموديل  (Model-Driven)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59" y="5449823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88AABB"/>
                </a:solidFill>
                <a:latin typeface="Arial"/>
              </a:rPr>
              <a:t>✦ في أيام وليس أسابيع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19" y="1188720"/>
            <a:ext cx="3840480" cy="5440680"/>
          </a:xfrm>
          <a:prstGeom prst="rect">
            <a:avLst/>
          </a:prstGeom>
          <a:solidFill>
            <a:srgbClr val="0A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75319" y="1188720"/>
            <a:ext cx="3840480" cy="64008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12479" y="1280160"/>
            <a:ext cx="502920" cy="502920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79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600" b="1" i="0">
                <a:solidFill>
                  <a:srgbClr val="0D2229"/>
                </a:solidFill>
                <a:latin typeface="Arial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19" y="1298448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3000" b="0" i="0">
                <a:solidFill>
                  <a:srgbClr val="FFFFFF"/>
                </a:solidFill>
                <a:latin typeface="Arial"/>
              </a:rPr>
              <a:t>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9" y="1874519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600" b="1" i="0">
                <a:solidFill>
                  <a:srgbClr val="BFFF00"/>
                </a:solidFill>
                <a:latin typeface="Arial"/>
              </a:rPr>
              <a:t>متجر المهارات</a:t>
            </a:r>
          </a:p>
          <a:p>
            <a:pPr algn="ctr" rtl="0"/>
            <a:r>
              <a:rPr sz="1600" b="1" i="0">
                <a:solidFill>
                  <a:srgbClr val="BFFF00"/>
                </a:solidFill>
                <a:latin typeface="Arial"/>
              </a:rPr>
              <a:t>(Skills for Fabric Marketplace)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58199" y="2788920"/>
            <a:ext cx="3474720" cy="27432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19" y="283464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FFFFFF"/>
                </a:solidFill>
                <a:latin typeface="Arial"/>
              </a:rPr>
              <a:t>سوق متكامل لأدوات الوكلاء</a:t>
            </a:r>
          </a:p>
          <a:p>
            <a:pPr algn="ctr" rtl="1"/>
            <a:r>
              <a:rPr sz="1300" b="0" i="0">
                <a:solidFill>
                  <a:srgbClr val="FFFFFF"/>
                </a:solidFill>
                <a:latin typeface="Arial"/>
              </a:rPr>
              <a:t>الذكيين مع حوكمة كاملة</a:t>
            </a:r>
          </a:p>
          <a:p>
            <a:pPr algn="ctr" rtl="1"/>
            <a:r>
              <a:rPr sz="1300" b="0" i="0">
                <a:solidFill>
                  <a:srgbClr val="FFFFFF"/>
                </a:solidFill>
                <a:latin typeface="Arial"/>
              </a:rPr>
              <a:t>(Fully Governed)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199" y="385876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88AABB"/>
                </a:solidFill>
                <a:latin typeface="Arial"/>
              </a:rPr>
              <a:t>✦ حزم جاهزة  (Ready Packages)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199" y="43891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88AABB"/>
                </a:solidFill>
                <a:latin typeface="Arial"/>
              </a:rPr>
              <a:t>✦ متوافق مع كل الوكلاء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199" y="491947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88AABB"/>
                </a:solidFill>
                <a:latin typeface="Arial"/>
              </a:rPr>
              <a:t>✦ حوكمة مؤسسية  (Enterprise Gov.)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199" y="5449823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88AABB"/>
                </a:solidFill>
                <a:latin typeface="Arial"/>
              </a:rPr>
              <a:t>✦ أمان كامل  (Full Security)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100" b="1" i="0">
                <a:solidFill>
                  <a:srgbClr val="00D2FF"/>
                </a:solidFill>
                <a:latin typeface="Arial"/>
              </a:rPr>
              <a:t>@HakamDataStudio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100" b="0" i="0">
                <a:solidFill>
                  <a:srgbClr val="88AABB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5943600" cy="6748272"/>
          </a:xfrm>
          <a:prstGeom prst="rect">
            <a:avLst/>
          </a:prstGeom>
          <a:solidFill>
            <a:srgbClr val="0A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1" i="0">
                <a:solidFill>
                  <a:srgbClr val="BFFF00"/>
                </a:solidFill>
                <a:latin typeface="Arial"/>
              </a:rPr>
              <a:t>تدفق عمل مهارات الوكيل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2179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/>
            <a:r>
              <a:rPr sz="1300" b="0" i="0">
                <a:solidFill>
                  <a:srgbClr val="00D2FF"/>
                </a:solidFill>
                <a:latin typeface="Arial"/>
              </a:rPr>
              <a:t>(Agent Skills Workflow)</a:t>
            </a:r>
          </a:p>
        </p:txBody>
      </p:sp>
      <p:pic>
        <p:nvPicPr>
          <p:cNvPr id="6" name="Picture 5" descr="agent_skills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51560"/>
            <a:ext cx="566928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13716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 i="0">
                <a:solidFill>
                  <a:srgbClr val="BFFF00"/>
                </a:solidFill>
                <a:latin typeface="Arial"/>
              </a:rPr>
              <a:t>مهارات الوكيل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667512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/>
            <a:r>
              <a:rPr sz="1500" b="0" i="0">
                <a:solidFill>
                  <a:srgbClr val="00D2FF"/>
                </a:solidFill>
                <a:latin typeface="Arial"/>
              </a:rPr>
              <a:t>(Agent Skills for Power BI)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097280"/>
            <a:ext cx="5577840" cy="36576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234440"/>
            <a:ext cx="5760720" cy="960120"/>
          </a:xfrm>
          <a:prstGeom prst="rect">
            <a:avLst/>
          </a:prstGeom>
          <a:solidFill>
            <a:srgbClr val="0D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234440"/>
            <a:ext cx="54864" cy="960120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2801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800" b="1" i="0">
                <a:solidFill>
                  <a:srgbClr val="BFFF00"/>
                </a:solidFill>
                <a:latin typeface="Arial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FFFFFF"/>
                </a:solidFill>
                <a:latin typeface="Arial"/>
              </a:rPr>
              <a:t>مدخل طبيعي  (Natural Input)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691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88AABB"/>
                </a:solidFill>
                <a:latin typeface="Arial"/>
              </a:rPr>
              <a:t>نص أو لقطة شاشة  (Text or Screenshot)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313432"/>
            <a:ext cx="5760720" cy="960120"/>
          </a:xfrm>
          <a:prstGeom prst="rect">
            <a:avLst/>
          </a:prstGeom>
          <a:solidFill>
            <a:srgbClr val="0D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2313432"/>
            <a:ext cx="54864" cy="9601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3591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800" b="1" i="0">
                <a:solidFill>
                  <a:srgbClr val="00D2FF"/>
                </a:solidFill>
                <a:latin typeface="Arial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3591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FFFFFF"/>
                </a:solidFill>
                <a:latin typeface="Arial"/>
              </a:rPr>
              <a:t>الوكيل الذكي  (AI Agent)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7706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88AABB"/>
                </a:solidFill>
                <a:latin typeface="Arial"/>
              </a:rPr>
              <a:t>يفهم المطلوب ويخطط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392424"/>
            <a:ext cx="5760720" cy="960120"/>
          </a:xfrm>
          <a:prstGeom prst="rect">
            <a:avLst/>
          </a:prstGeom>
          <a:solidFill>
            <a:srgbClr val="0D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3392424"/>
            <a:ext cx="54864" cy="960120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43814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800" b="1" i="0">
                <a:solidFill>
                  <a:srgbClr val="BFFF00"/>
                </a:solidFill>
                <a:latin typeface="Arial"/>
              </a:rPr>
              <a:t>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3814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FFFFFF"/>
                </a:solidFill>
                <a:latin typeface="Arial"/>
              </a:rPr>
              <a:t>موديل الأعمال  (Semantic Model)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84962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88AABB"/>
                </a:solidFill>
                <a:latin typeface="Arial"/>
              </a:rPr>
              <a:t>يبني الجداول والعلاقات والداكس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471416"/>
            <a:ext cx="5760720" cy="960120"/>
          </a:xfrm>
          <a:prstGeom prst="rect">
            <a:avLst/>
          </a:prstGeom>
          <a:solidFill>
            <a:srgbClr val="0D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4471416"/>
            <a:ext cx="54864" cy="9601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451713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800" b="1" i="0">
                <a:solidFill>
                  <a:srgbClr val="00D2FF"/>
                </a:solidFill>
                <a:latin typeface="Arial"/>
              </a:rPr>
              <a:t>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51713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FFFFFF"/>
                </a:solidFill>
                <a:latin typeface="Arial"/>
              </a:rPr>
              <a:t>بناء التقرير  (Report Building)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92861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88AABB"/>
                </a:solidFill>
                <a:latin typeface="Arial"/>
              </a:rPr>
              <a:t>صفحات ومرئيات وKPIs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5550408"/>
            <a:ext cx="5760720" cy="960120"/>
          </a:xfrm>
          <a:prstGeom prst="rect">
            <a:avLst/>
          </a:prstGeom>
          <a:solidFill>
            <a:srgbClr val="0D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5550408"/>
            <a:ext cx="54864" cy="960120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55961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800" b="1" i="0">
                <a:solidFill>
                  <a:srgbClr val="BFFF00"/>
                </a:solidFill>
                <a:latin typeface="Arial"/>
              </a:rPr>
              <a:t>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5961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FFFFFF"/>
                </a:solidFill>
                <a:latin typeface="Arial"/>
              </a:rPr>
              <a:t>نشر في فابريك  (Publish to Fabric)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60076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88AABB"/>
                </a:solidFill>
                <a:latin typeface="Arial"/>
              </a:rPr>
              <a:t>جاهز للاستخدام فوراً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100" b="1" i="0">
                <a:solidFill>
                  <a:srgbClr val="00D2FF"/>
                </a:solidFill>
                <a:latin typeface="Arial"/>
              </a:rPr>
              <a:t>@HakamDataStudio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100" b="0" i="0">
                <a:solidFill>
                  <a:srgbClr val="88AABB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600" b="1" i="0">
                <a:solidFill>
                  <a:srgbClr val="00D2FF"/>
                </a:solidFill>
                <a:latin typeface="Arial"/>
              </a:rPr>
              <a:t>تطبيقات فابريك  (Fabric Apps for Semantic Models)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FFFFFF"/>
                </a:solidFill>
                <a:latin typeface="Arial"/>
              </a:rPr>
              <a:t>من موديل بيانات إلى تطبيق ويب كامل — بكلام طبيعي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394960" cy="5349240"/>
          </a:xfrm>
          <a:prstGeom prst="rect">
            <a:avLst/>
          </a:prstGeom>
          <a:solidFill>
            <a:srgbClr val="66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94960" cy="64008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800" b="1" i="0">
                <a:solidFill>
                  <a:srgbClr val="FF6666"/>
                </a:solidFill>
                <a:latin typeface="Arial"/>
              </a:rPr>
              <a:t>قبل ❌  (Before Fabric Apps)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2000" b="0" i="0">
                <a:solidFill>
                  <a:srgbClr val="FFFFFF"/>
                </a:solidFill>
                <a:latin typeface="Arial"/>
              </a:rPr>
              <a:t>👨‍💻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FFAAAA"/>
                </a:solidFill>
                <a:latin typeface="Arial"/>
              </a:rPr>
              <a:t>مطور واجهة أمامية</a:t>
            </a:r>
          </a:p>
          <a:p>
            <a:pPr algn="r" rtl="1"/>
            <a:r>
              <a:rPr sz="1300" b="1" i="0">
                <a:solidFill>
                  <a:srgbClr val="FFAAAA"/>
                </a:solidFill>
                <a:latin typeface="Arial"/>
              </a:rPr>
              <a:t>(Frontend Developer)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1343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88AABB"/>
                </a:solidFill>
                <a:latin typeface="Arial"/>
              </a:rPr>
              <a:t>أسابيع من التصميم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2000" b="0" i="0">
                <a:solidFill>
                  <a:srgbClr val="FFFFFF"/>
                </a:solidFill>
                <a:latin typeface="Arial"/>
              </a:rPr>
              <a:t>⚙️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FFAAAA"/>
                </a:solidFill>
                <a:latin typeface="Arial"/>
              </a:rPr>
              <a:t>مطور خوادم</a:t>
            </a:r>
          </a:p>
          <a:p>
            <a:pPr algn="r" rtl="1"/>
            <a:r>
              <a:rPr sz="1300" b="1" i="0">
                <a:solidFill>
                  <a:srgbClr val="FFAAAA"/>
                </a:solidFill>
                <a:latin typeface="Arial"/>
              </a:rPr>
              <a:t>(Backend Developer)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18211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88AABB"/>
                </a:solidFill>
                <a:latin typeface="Arial"/>
              </a:rPr>
              <a:t>API وقواعد البيانات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2000" b="0" i="0">
                <a:solidFill>
                  <a:srgbClr val="FFFFFF"/>
                </a:solidFill>
                <a:latin typeface="Arial"/>
              </a:rPr>
              <a:t>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65760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FFAAAA"/>
                </a:solidFill>
                <a:latin typeface="Arial"/>
              </a:rPr>
              <a:t>ديزاينر</a:t>
            </a:r>
          </a:p>
          <a:p>
            <a:pPr algn="r" rtl="1"/>
            <a:r>
              <a:rPr sz="1300" b="1" i="0">
                <a:solidFill>
                  <a:srgbClr val="FFAAAA"/>
                </a:solidFill>
                <a:latin typeface="Arial"/>
              </a:rPr>
              <a:t>(UX Designer)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05079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88AABB"/>
                </a:solidFill>
                <a:latin typeface="Arial"/>
              </a:rPr>
              <a:t>تجربة المستخدم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52627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2000" b="0" i="0">
                <a:solidFill>
                  <a:srgbClr val="FFFFFF"/>
                </a:solidFill>
                <a:latin typeface="Arial"/>
              </a:rPr>
              <a:t>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526279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FFAAAA"/>
                </a:solidFill>
                <a:latin typeface="Arial"/>
              </a:rPr>
              <a:t>واجهة برمجية</a:t>
            </a:r>
          </a:p>
          <a:p>
            <a:pPr algn="r" rtl="1"/>
            <a:r>
              <a:rPr sz="1300" b="1" i="0">
                <a:solidFill>
                  <a:srgbClr val="FFAAAA"/>
                </a:solidFill>
                <a:latin typeface="Arial"/>
              </a:rPr>
              <a:t>(API Integration)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919471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88AABB"/>
                </a:solidFill>
                <a:latin typeface="Arial"/>
              </a:rPr>
              <a:t>ربط كل شي ببعض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94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2000" b="0" i="0">
                <a:solidFill>
                  <a:srgbClr val="FFFFFF"/>
                </a:solidFill>
                <a:latin typeface="Arial"/>
              </a:rPr>
              <a:t>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39496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FFAAAA"/>
                </a:solidFill>
                <a:latin typeface="Arial"/>
              </a:rPr>
              <a:t>3-6 أسابيع من الشغل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78815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88AABB"/>
                </a:solidFill>
                <a:latin typeface="Arial"/>
              </a:rPr>
              <a:t>فريق كامل مطلوب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65760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3600" b="1" i="0">
                <a:solidFill>
                  <a:srgbClr val="BFFF00"/>
                </a:solidFill>
                <a:latin typeface="Arial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234440"/>
            <a:ext cx="5394960" cy="5349240"/>
          </a:xfrm>
          <a:prstGeom prst="rect">
            <a:avLst/>
          </a:prstGeom>
          <a:solidFill>
            <a:srgbClr val="0A2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1234440"/>
            <a:ext cx="5394960" cy="64008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3258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800" b="1" i="0">
                <a:solidFill>
                  <a:srgbClr val="BFFF00"/>
                </a:solidFill>
                <a:latin typeface="Arial"/>
              </a:rPr>
              <a:t>بعد ✅  (With Fabric Apps)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19202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2000" b="0" i="0">
                <a:solidFill>
                  <a:srgbClr val="FFFFFF"/>
                </a:solidFill>
                <a:latin typeface="Arial"/>
              </a:rPr>
              <a:t>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192024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AAFF88"/>
                </a:solidFill>
                <a:latin typeface="Arial"/>
              </a:rPr>
              <a:t>وكيل ذكي واحد</a:t>
            </a:r>
          </a:p>
          <a:p>
            <a:pPr algn="r" rtl="1"/>
            <a:r>
              <a:rPr sz="1300" b="1" i="0">
                <a:solidFill>
                  <a:srgbClr val="AAFF88"/>
                </a:solidFill>
                <a:latin typeface="Arial"/>
              </a:rPr>
              <a:t>(One AI Agent)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231343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88AABB"/>
                </a:solidFill>
                <a:latin typeface="Arial"/>
              </a:rPr>
              <a:t>يفهم طلبك بالكلام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7889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2000" b="0" i="0">
                <a:solidFill>
                  <a:srgbClr val="FFFFFF"/>
                </a:solidFill>
                <a:latin typeface="Arial"/>
              </a:rPr>
              <a:t>🗄️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27889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AAFF88"/>
                </a:solidFill>
                <a:latin typeface="Arial"/>
              </a:rPr>
              <a:t>موديل أعمال جاهز</a:t>
            </a:r>
          </a:p>
          <a:p>
            <a:pPr algn="r" rtl="1"/>
            <a:r>
              <a:rPr sz="1300" b="1" i="0">
                <a:solidFill>
                  <a:srgbClr val="AAFF88"/>
                </a:solidFill>
                <a:latin typeface="Arial"/>
              </a:rPr>
              <a:t>(Semantic Model)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318211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88AABB"/>
                </a:solidFill>
                <a:latin typeface="Arial"/>
              </a:rPr>
              <a:t>يستخدمه مباشرة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2000" b="0" i="0">
                <a:solidFill>
                  <a:srgbClr val="FFFFFF"/>
                </a:solidFill>
                <a:latin typeface="Arial"/>
              </a:rP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365760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AAFF88"/>
                </a:solidFill>
                <a:latin typeface="Arial"/>
              </a:rPr>
              <a:t>طلب طبيعي</a:t>
            </a:r>
          </a:p>
          <a:p>
            <a:pPr algn="r" rtl="1"/>
            <a:r>
              <a:rPr sz="1300" b="1" i="0">
                <a:solidFill>
                  <a:srgbClr val="AAFF88"/>
                </a:solidFill>
                <a:latin typeface="Arial"/>
              </a:rPr>
              <a:t>(Natural Language)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405079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88AABB"/>
                </a:solidFill>
                <a:latin typeface="Arial"/>
              </a:rPr>
              <a:t>تصف ما تريد فقط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52627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2000" b="0" i="0">
                <a:solidFill>
                  <a:srgbClr val="FFFFFF"/>
                </a:solidFill>
                <a:latin typeface="Arial"/>
              </a:rPr>
              <a:t>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4526279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AAFF88"/>
                </a:solidFill>
                <a:latin typeface="Arial"/>
              </a:rPr>
              <a:t>تطبيق ويب كامل</a:t>
            </a:r>
          </a:p>
          <a:p>
            <a:pPr algn="r" rtl="1"/>
            <a:r>
              <a:rPr sz="1300" b="1" i="0">
                <a:solidFill>
                  <a:srgbClr val="AAFF88"/>
                </a:solidFill>
                <a:latin typeface="Arial"/>
              </a:rPr>
              <a:t>(Fabric-native App)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4919471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88AABB"/>
                </a:solidFill>
                <a:latin typeface="Arial"/>
              </a:rPr>
              <a:t>جاهز ومنشور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5394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2000" b="0" i="0">
                <a:solidFill>
                  <a:srgbClr val="FFFFFF"/>
                </a:solidFill>
                <a:latin typeface="Arial"/>
              </a:rPr>
              <a:t>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539496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AAFF88"/>
                </a:solidFill>
                <a:latin typeface="Arial"/>
              </a:rPr>
              <a:t>أيام وليس أسابيع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578815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88AABB"/>
                </a:solidFill>
                <a:latin typeface="Arial"/>
              </a:rPr>
              <a:t>بدون فريق تطوير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100" b="1" i="0">
                <a:solidFill>
                  <a:srgbClr val="00D2FF"/>
                </a:solidFill>
                <a:latin typeface="Arial"/>
              </a:rPr>
              <a:t>@HakamDataStudio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100" b="0" i="0">
                <a:solidFill>
                  <a:srgbClr val="88AABB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 i="0">
                <a:solidFill>
                  <a:srgbClr val="BFFF00"/>
                </a:solidFill>
                <a:latin typeface="Arial"/>
              </a:rPr>
              <a:t>بروتوكول السياق النموذجي  (MCP — Model Context Protocol)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/>
            <a:r>
              <a:rPr sz="1600" b="0" i="0">
                <a:solidFill>
                  <a:srgbClr val="FFFFFF"/>
                </a:solidFill>
                <a:latin typeface="Arial"/>
              </a:rPr>
              <a:t>زي USB-C للذكاء الاصطناعي — معيار توصيل موحّد  (Universal AI Protocol)</a:t>
            </a:r>
          </a:p>
        </p:txBody>
      </p:sp>
      <p:pic>
        <p:nvPicPr>
          <p:cNvPr id="5" name="Picture 4" descr="mcp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11612880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407408"/>
            <a:ext cx="12188952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4480560"/>
            <a:ext cx="5623560" cy="2194560"/>
          </a:xfrm>
          <a:prstGeom prst="rect">
            <a:avLst/>
          </a:prstGeom>
          <a:solidFill>
            <a:srgbClr val="0A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4480560"/>
            <a:ext cx="54864" cy="21945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4526280"/>
            <a:ext cx="5349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i="0">
                <a:solidFill>
                  <a:srgbClr val="00D2FF"/>
                </a:solidFill>
                <a:latin typeface="Arial"/>
              </a:rPr>
              <a:t>خادم التحليل البعيد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93776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/>
            <a:r>
              <a:rPr sz="1100" b="0" i="0">
                <a:solidFill>
                  <a:srgbClr val="88AABB"/>
                </a:solidFill>
                <a:latin typeface="Arial"/>
              </a:rPr>
              <a:t>(Remote Power BI MCP Server)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25780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FFFFFF"/>
                </a:solidFill>
                <a:latin typeface="Arial"/>
              </a:rPr>
              <a:t>• يتصل بموديلات الأعمال المنشورة  (Published Semantic Models)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596128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FFFFFF"/>
                </a:solidFill>
                <a:latin typeface="Arial"/>
              </a:rPr>
              <a:t>• يولّد استعلامات داكس تلقائياً  (Auto DAX Queries)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5934456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FFFFFF"/>
                </a:solidFill>
                <a:latin typeface="Arial"/>
              </a:rPr>
              <a:t>• يجاوب أسئلة بيانات بالكلام الطبيعي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272783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FFFFFF"/>
                </a:solidFill>
                <a:latin typeface="Arial"/>
              </a:rPr>
              <a:t>• يحترم صلاحيات الأمان  (Row-Level Security)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4480560"/>
            <a:ext cx="5623560" cy="2194560"/>
          </a:xfrm>
          <a:prstGeom prst="rect">
            <a:avLst/>
          </a:prstGeom>
          <a:solidFill>
            <a:srgbClr val="0A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4480560"/>
            <a:ext cx="54864" cy="2194560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526280"/>
            <a:ext cx="5349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i="0">
                <a:solidFill>
                  <a:srgbClr val="BFFF00"/>
                </a:solidFill>
                <a:latin typeface="Arial"/>
              </a:rPr>
              <a:t>خادم التطوير المحلي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93776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/>
            <a:r>
              <a:rPr sz="1100" b="0" i="0">
                <a:solidFill>
                  <a:srgbClr val="88AABB"/>
                </a:solidFill>
                <a:latin typeface="Arial"/>
              </a:rPr>
              <a:t>(Local Power BI Modeling MCP Server)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25780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FFFFFF"/>
                </a:solidFill>
                <a:latin typeface="Arial"/>
              </a:rPr>
              <a:t>• يشتغل على ملفات المشروع المحلية  (.pbip files)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596128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FFFFFF"/>
                </a:solidFill>
                <a:latin typeface="Arial"/>
              </a:rPr>
              <a:t>• تغيير وعمليات جماعية  (Bulk Operations)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934456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FFFFFF"/>
                </a:solidFill>
                <a:latin typeface="Arial"/>
              </a:rPr>
              <a:t>• إنشاء مقاييس داكس  (DAX Measures) تلقائياً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272783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FFFFFF"/>
                </a:solidFill>
                <a:latin typeface="Arial"/>
              </a:rPr>
              <a:t>• يعمل مع بيئات التطوير  (VS Code / Claude Desktop)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100" b="1" i="0">
                <a:solidFill>
                  <a:srgbClr val="00D2FF"/>
                </a:solidFill>
                <a:latin typeface="Arial"/>
              </a:rPr>
              <a:t>@HakamDataStudio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100" b="0" i="0">
                <a:solidFill>
                  <a:srgbClr val="88AABB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 i="0">
                <a:solidFill>
                  <a:srgbClr val="00D2FF"/>
                </a:solidFill>
                <a:latin typeface="Arial"/>
              </a:rPr>
              <a:t>ذكاء فابريك  (Fabric IQ)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FFFFFF"/>
                </a:solidFill>
                <a:latin typeface="Arial"/>
              </a:rPr>
              <a:t>طبقة الذكاء الدلالي للمنصة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521208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486400" cy="1536192"/>
          </a:xfrm>
          <a:prstGeom prst="rect">
            <a:avLst/>
          </a:prstGeom>
          <a:solidFill>
            <a:srgbClr val="0A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4864" cy="1536192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BFFF00"/>
                </a:solidFill>
                <a:latin typeface="Arial"/>
              </a:rPr>
              <a:t>المشكلة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FFFFFF"/>
                </a:solidFill>
                <a:latin typeface="Arial"/>
              </a:rPr>
              <a:t>الذكاء الاصطناعي بدون سياق يخمّن</a:t>
            </a:r>
          </a:p>
          <a:p>
            <a:pPr algn="r" rtl="1"/>
            <a:r>
              <a:rPr sz="1300" b="0" i="0">
                <a:solidFill>
                  <a:srgbClr val="FFFFFF"/>
                </a:solidFill>
                <a:latin typeface="Arial"/>
              </a:rPr>
              <a:t>على أساس أسماء الجداول — وليس منطق الأعمال الحقيقي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71800"/>
            <a:ext cx="5486400" cy="1536192"/>
          </a:xfrm>
          <a:prstGeom prst="rect">
            <a:avLst/>
          </a:prstGeom>
          <a:solidFill>
            <a:srgbClr val="0A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971800"/>
            <a:ext cx="54864" cy="153619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632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00D2FF"/>
                </a:solidFill>
                <a:latin typeface="Arial"/>
              </a:rPr>
              <a:t>الحل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7472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FFFFFF"/>
                </a:solidFill>
                <a:latin typeface="Arial"/>
              </a:rPr>
              <a:t>ذكاء فابريك يوحّد المقاييس والعلاقات</a:t>
            </a:r>
          </a:p>
          <a:p>
            <a:pPr algn="r" rtl="1"/>
            <a:r>
              <a:rPr sz="1300" b="0" i="0">
                <a:solidFill>
                  <a:srgbClr val="FFFFFF"/>
                </a:solidFill>
                <a:latin typeface="Arial"/>
              </a:rPr>
              <a:t>وتعريفات الأعمال في طبقة واحدة مشتركة  (Unified Semantic Layer)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663440"/>
            <a:ext cx="5486400" cy="1536192"/>
          </a:xfrm>
          <a:prstGeom prst="rect">
            <a:avLst/>
          </a:prstGeom>
          <a:solidFill>
            <a:srgbClr val="0A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663440"/>
            <a:ext cx="54864" cy="1536192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754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BFFF00"/>
                </a:solidFill>
                <a:latin typeface="Arial"/>
              </a:rPr>
              <a:t>النتيجة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6636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FFFFFF"/>
                </a:solidFill>
                <a:latin typeface="Arial"/>
              </a:rPr>
              <a:t>كل الوكلاء يشتغلون على نفس فهم الأعمال</a:t>
            </a:r>
          </a:p>
          <a:p>
            <a:pPr algn="r" rtl="1"/>
            <a:r>
              <a:rPr sz="1300" b="0" i="0">
                <a:solidFill>
                  <a:srgbClr val="FFFFFF"/>
                </a:solidFill>
                <a:latin typeface="Arial"/>
              </a:rPr>
              <a:t>بدون تناقض أو أخطاء  (No Contradictions)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263640"/>
            <a:ext cx="5486400" cy="457200"/>
          </a:xfrm>
          <a:prstGeom prst="rect">
            <a:avLst/>
          </a:prstGeom>
          <a:solidFill>
            <a:srgbClr val="0D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6263640"/>
            <a:ext cx="1691640" cy="411480"/>
          </a:xfrm>
          <a:prstGeom prst="rect">
            <a:avLst/>
          </a:prstGeom>
          <a:solidFill>
            <a:srgbClr val="0A181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28192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100" b="1" i="0">
                <a:solidFill>
                  <a:srgbClr val="00D2FF"/>
                </a:solidFill>
                <a:latin typeface="Arial"/>
              </a:rPr>
              <a:t>Work IQ  (M365)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6263640"/>
            <a:ext cx="1691640" cy="411480"/>
          </a:xfrm>
          <a:prstGeom prst="rect">
            <a:avLst/>
          </a:prstGeom>
          <a:solidFill>
            <a:srgbClr val="0A181F"/>
          </a:solidFill>
          <a:ln w="19050">
            <a:solidFill>
              <a:srgbClr val="B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628192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100" b="1" i="0">
                <a:solidFill>
                  <a:srgbClr val="BFFF00"/>
                </a:solidFill>
                <a:latin typeface="Arial"/>
              </a:rPr>
              <a:t>Fabric IQ  (Data)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6263640"/>
            <a:ext cx="1691640" cy="411480"/>
          </a:xfrm>
          <a:prstGeom prst="rect">
            <a:avLst/>
          </a:prstGeom>
          <a:solidFill>
            <a:srgbClr val="0A181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0" y="628192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100" b="1" i="0">
                <a:solidFill>
                  <a:srgbClr val="00D2FF"/>
                </a:solidFill>
                <a:latin typeface="Arial"/>
              </a:rPr>
              <a:t>Foundry IQ  (Docs)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54864"/>
            <a:ext cx="6153912" cy="6748272"/>
          </a:xfrm>
          <a:prstGeom prst="rect">
            <a:avLst/>
          </a:prstGeom>
          <a:solidFill>
            <a:srgbClr val="0A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13716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700" b="1" i="0">
                <a:solidFill>
                  <a:srgbClr val="BFFF00"/>
                </a:solidFill>
                <a:latin typeface="Arial"/>
              </a:rPr>
              <a:t>منظومة مايكروسوفت آي كيو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62179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300" b="0" i="0">
                <a:solidFill>
                  <a:srgbClr val="00D2FF"/>
                </a:solidFill>
                <a:latin typeface="Arial"/>
              </a:rPr>
              <a:t>(Microsoft IQ Ecosystem)</a:t>
            </a:r>
          </a:p>
        </p:txBody>
      </p:sp>
      <p:pic>
        <p:nvPicPr>
          <p:cNvPr id="28" name="Picture 27" descr="fabric_iq_eco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051560"/>
            <a:ext cx="5943600" cy="56235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7432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100" b="1" i="0">
                <a:solidFill>
                  <a:srgbClr val="00D2FF"/>
                </a:solidFill>
                <a:latin typeface="Arial"/>
              </a:rPr>
              <a:t>@HakamDataStudio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100" b="0" i="0">
                <a:solidFill>
                  <a:srgbClr val="88AABB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600" b="1" i="0">
                <a:solidFill>
                  <a:srgbClr val="BFFF00"/>
                </a:solidFill>
                <a:latin typeface="Arial"/>
              </a:rPr>
              <a:t>ماذا يعني هذا التطور عليك؟  (What Does This Mean for You?)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5577840" cy="2834640"/>
          </a:xfrm>
          <a:prstGeom prst="rect">
            <a:avLst/>
          </a:prstGeom>
          <a:solidFill>
            <a:srgbClr val="0A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577840" cy="64008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5400" b="1" i="0">
                <a:solidFill>
                  <a:srgbClr val="BFFF00"/>
                </a:solidFill>
                <a:latin typeface="Arial"/>
              </a:rPr>
              <a:t>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0515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FFFFFF"/>
                </a:solidFill>
                <a:latin typeface="Arial"/>
              </a:rPr>
              <a:t>تخفيض في الأعمال المتكررة</a:t>
            </a:r>
          </a:p>
          <a:p>
            <a:pPr algn="r" rtl="1"/>
            <a:r>
              <a:rPr sz="1500" b="1" i="0">
                <a:solidFill>
                  <a:srgbClr val="FFFFFF"/>
                </a:solidFill>
                <a:latin typeface="Arial"/>
              </a:rPr>
              <a:t>(Reduction in Repetitive Work)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48840"/>
            <a:ext cx="5212080" cy="27432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88AABB"/>
                </a:solidFill>
                <a:latin typeface="Arial"/>
              </a:rPr>
              <a:t>إنجازات 2026 من المؤسسات اللي طبّقت الأجنتس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914400"/>
            <a:ext cx="5577840" cy="2834640"/>
          </a:xfrm>
          <a:prstGeom prst="rect">
            <a:avLst/>
          </a:prstGeom>
          <a:solidFill>
            <a:srgbClr val="0A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914400"/>
            <a:ext cx="5577840" cy="640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0058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5400" b="1" i="0">
                <a:solidFill>
                  <a:srgbClr val="00D2FF"/>
                </a:solidFill>
                <a:latin typeface="Arial"/>
              </a:rPr>
              <a:t>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0515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FFFFFF"/>
                </a:solidFill>
                <a:latin typeface="Arial"/>
              </a:rPr>
              <a:t>موديل الأعمال هو المهارة الأهم</a:t>
            </a:r>
          </a:p>
          <a:p>
            <a:pPr algn="r" rtl="1"/>
            <a:r>
              <a:rPr sz="1500" b="1" i="0">
                <a:solidFill>
                  <a:srgbClr val="FFFFFF"/>
                </a:solidFill>
                <a:latin typeface="Arial"/>
              </a:rPr>
              <a:t>(Semantic Model is King)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2148840"/>
            <a:ext cx="521208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286000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88AABB"/>
                </a:solidFill>
                <a:latin typeface="Arial"/>
              </a:rPr>
              <a:t>الوكيل يكتب الداكس — لكن مين يبني الموديل الصح؟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77639"/>
            <a:ext cx="5577840" cy="2834640"/>
          </a:xfrm>
          <a:prstGeom prst="rect">
            <a:avLst/>
          </a:prstGeom>
          <a:solidFill>
            <a:srgbClr val="0A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977639"/>
            <a:ext cx="5577840" cy="64008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069079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5400" b="1" i="0">
                <a:solidFill>
                  <a:srgbClr val="BFFF00"/>
                </a:solidFill>
                <a:latin typeface="Arial"/>
              </a:rPr>
              <a:t>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114799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FFFFFF"/>
                </a:solidFill>
                <a:latin typeface="Arial"/>
              </a:rPr>
              <a:t>دور المحلل يتطور مش يختفي</a:t>
            </a:r>
          </a:p>
          <a:p>
            <a:pPr algn="r" rtl="1"/>
            <a:r>
              <a:rPr sz="1500" b="1" i="0">
                <a:solidFill>
                  <a:srgbClr val="FFFFFF"/>
                </a:solidFill>
                <a:latin typeface="Arial"/>
              </a:rPr>
              <a:t>(The Analyst Role Evolves)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12079"/>
            <a:ext cx="5212080" cy="27432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349239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88AABB"/>
                </a:solidFill>
                <a:latin typeface="Arial"/>
              </a:rPr>
              <a:t>من تنفيذ المهام → الإشراف والجودة والاستراتيجية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977639"/>
            <a:ext cx="5577840" cy="2834640"/>
          </a:xfrm>
          <a:prstGeom prst="rect">
            <a:avLst/>
          </a:prstGeom>
          <a:solidFill>
            <a:srgbClr val="0A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977639"/>
            <a:ext cx="5577840" cy="640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4069079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5400" b="1" i="0">
                <a:solidFill>
                  <a:srgbClr val="00D2FF"/>
                </a:solidFill>
                <a:latin typeface="Arial"/>
              </a:rPr>
              <a:t>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4114799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FFFFFF"/>
                </a:solidFill>
                <a:latin typeface="Arial"/>
              </a:rPr>
              <a:t>الحوكمة صارت ميزة تنافسية</a:t>
            </a:r>
          </a:p>
          <a:p>
            <a:pPr algn="r" rtl="1"/>
            <a:r>
              <a:rPr sz="1500" b="1" i="0">
                <a:solidFill>
                  <a:srgbClr val="FFFFFF"/>
                </a:solidFill>
                <a:latin typeface="Arial"/>
              </a:rPr>
              <a:t>(Governance = Competitive Edge)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5212079"/>
            <a:ext cx="521208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5349239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88AABB"/>
                </a:solidFill>
                <a:latin typeface="Arial"/>
              </a:rPr>
              <a:t>المؤسسات ذات الحوكمة الجيدة ستكسب السباق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100" b="1" i="0">
                <a:solidFill>
                  <a:srgbClr val="00D2FF"/>
                </a:solidFill>
                <a:latin typeface="Arial"/>
              </a:rPr>
              <a:t>@HakamDataStudio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100" b="0" i="0">
                <a:solidFill>
                  <a:srgbClr val="88AABB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i="0">
                <a:solidFill>
                  <a:srgbClr val="FFFFFF"/>
                </a:solidFill>
                <a:latin typeface="Arial"/>
              </a:rPr>
              <a:t>خلاصة الكلام  (Summary)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1430000" cy="1280160"/>
          </a:xfrm>
          <a:prstGeom prst="rect">
            <a:avLst/>
          </a:prstGeom>
          <a:solidFill>
            <a:srgbClr val="0A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64008" cy="1280160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594360" cy="594360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700" b="1" i="0">
                <a:solidFill>
                  <a:srgbClr val="0D2229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94183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i="0">
                <a:solidFill>
                  <a:srgbClr val="BFFF00"/>
                </a:solidFill>
                <a:latin typeface="Arial"/>
              </a:rPr>
              <a:t>مهارات الوكيل  (Agent Skills for Power BI)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43560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FFFFFF"/>
                </a:solidFill>
                <a:latin typeface="Arial"/>
              </a:rPr>
              <a:t>بناء موديل أعمال كامل وتقارير بالكلام الطبيعي أو لقطة شاشة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0" y="1143000"/>
            <a:ext cx="2423160" cy="594360"/>
          </a:xfrm>
          <a:prstGeom prst="rect">
            <a:avLst/>
          </a:prstGeom>
          <a:solidFill>
            <a:srgbClr val="0D2229"/>
          </a:solidFill>
          <a:ln w="19050">
            <a:solidFill>
              <a:srgbClr val="B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81160" y="1170432"/>
            <a:ext cx="2331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 i="0">
                <a:solidFill>
                  <a:srgbClr val="BFFF00"/>
                </a:solidFill>
                <a:latin typeface="Arial"/>
              </a:rPr>
              <a:t>موديل أعمال + داكس + تقرير + نشر = وكيل واحد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86000"/>
            <a:ext cx="11430000" cy="1280160"/>
          </a:xfrm>
          <a:prstGeom prst="rect">
            <a:avLst/>
          </a:prstGeom>
          <a:solidFill>
            <a:srgbClr val="0A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64008" cy="12801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468880"/>
            <a:ext cx="594360" cy="5943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4688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700" b="1" i="0">
                <a:solidFill>
                  <a:srgbClr val="0D2229"/>
                </a:solidFill>
                <a:latin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35915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i="0">
                <a:solidFill>
                  <a:srgbClr val="00D2FF"/>
                </a:solidFill>
                <a:latin typeface="Arial"/>
              </a:rPr>
              <a:t>تطبيقات فابريك  (Fabric Apps for Semantic Models)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85292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FFFFFF"/>
                </a:solidFill>
                <a:latin typeface="Arial"/>
              </a:rPr>
              <a:t>تطبيق ويب أصيل فوق موديل البيانات — بدون فريق تطوير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2560320"/>
            <a:ext cx="2423160" cy="594360"/>
          </a:xfrm>
          <a:prstGeom prst="rect">
            <a:avLst/>
          </a:prstGeom>
          <a:solidFill>
            <a:srgbClr val="0D2229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2587752"/>
            <a:ext cx="2331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 i="0">
                <a:solidFill>
                  <a:srgbClr val="00D2FF"/>
                </a:solidFill>
                <a:latin typeface="Arial"/>
              </a:rPr>
              <a:t>أيام بدل أسابيع — وكيل ذكي واحد يبني كل شي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03320"/>
            <a:ext cx="11430000" cy="1280160"/>
          </a:xfrm>
          <a:prstGeom prst="rect">
            <a:avLst/>
          </a:prstGeom>
          <a:solidFill>
            <a:srgbClr val="0A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703320"/>
            <a:ext cx="64008" cy="1280160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886200"/>
            <a:ext cx="594360" cy="594360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8862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700" b="1" i="0">
                <a:solidFill>
                  <a:srgbClr val="0D2229"/>
                </a:solidFill>
                <a:latin typeface="Arial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377647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i="0">
                <a:solidFill>
                  <a:srgbClr val="BFFF00"/>
                </a:solidFill>
                <a:latin typeface="Arial"/>
              </a:rPr>
              <a:t>بروتوكول السياق النموذجي  (MCP Servers)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27024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FFFFFF"/>
                </a:solidFill>
                <a:latin typeface="Arial"/>
              </a:rPr>
              <a:t>جسر موحّد بين الوكلاء وأنظمة باور بي آي وفابريك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3977640"/>
            <a:ext cx="2423160" cy="594360"/>
          </a:xfrm>
          <a:prstGeom prst="rect">
            <a:avLst/>
          </a:prstGeom>
          <a:solidFill>
            <a:srgbClr val="0D2229"/>
          </a:solidFill>
          <a:ln w="19050">
            <a:solidFill>
              <a:srgbClr val="B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4005072"/>
            <a:ext cx="2331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 i="0">
                <a:solidFill>
                  <a:srgbClr val="BFFF00"/>
                </a:solidFill>
                <a:latin typeface="Arial"/>
              </a:rPr>
              <a:t>خادم بعيد للتحليل + خادم محلي للتطوير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120640"/>
            <a:ext cx="11430000" cy="1280160"/>
          </a:xfrm>
          <a:prstGeom prst="rect">
            <a:avLst/>
          </a:prstGeom>
          <a:solidFill>
            <a:srgbClr val="0A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5120640"/>
            <a:ext cx="64008" cy="12801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303520"/>
            <a:ext cx="594360" cy="5943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3035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700" b="1" i="0">
                <a:solidFill>
                  <a:srgbClr val="0D2229"/>
                </a:solidFill>
                <a:latin typeface="Arial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519379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i="0">
                <a:solidFill>
                  <a:srgbClr val="00D2FF"/>
                </a:solidFill>
                <a:latin typeface="Arial"/>
              </a:rPr>
              <a:t>ذكاء فابريك  (Fabric IQ)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68756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FFFFFF"/>
                </a:solidFill>
                <a:latin typeface="Arial"/>
              </a:rPr>
              <a:t>الطبقة الذكية الأساسية — كل الوكلاء يفهمون الأعمال بنفس الطريقة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5394960"/>
            <a:ext cx="2423160" cy="594360"/>
          </a:xfrm>
          <a:prstGeom prst="rect">
            <a:avLst/>
          </a:prstGeom>
          <a:solidFill>
            <a:srgbClr val="0D2229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5422392"/>
            <a:ext cx="2331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 i="0">
                <a:solidFill>
                  <a:srgbClr val="00D2FF"/>
                </a:solidFill>
                <a:latin typeface="Arial"/>
              </a:rPr>
              <a:t>Work IQ + Fabric IQ + Foundry IQ = Microsoft IQ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100" b="1" i="0">
                <a:solidFill>
                  <a:srgbClr val="00D2FF"/>
                </a:solidFill>
                <a:latin typeface="Arial"/>
              </a:rPr>
              <a:t>@HakamDataStudio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100" b="0" i="0">
                <a:solidFill>
                  <a:srgbClr val="88AABB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"/>
            <a:ext cx="73152" cy="674827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54864"/>
            <a:ext cx="73152" cy="6748272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822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3800" b="1" i="0">
                <a:solidFill>
                  <a:srgbClr val="FFFFFF"/>
                </a:solidFill>
                <a:latin typeface="Arial"/>
              </a:rPr>
              <a:t>عصر الذكاء الاصطناعي الوكيل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2200" b="0" i="0">
                <a:solidFill>
                  <a:srgbClr val="BFFF00"/>
                </a:solidFill>
                <a:latin typeface="Arial"/>
              </a:rPr>
              <a:t>(Agentic AI Era)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331720"/>
            <a:ext cx="94183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400" b="1" i="0">
                <a:solidFill>
                  <a:srgbClr val="BFFF00"/>
                </a:solidFill>
                <a:latin typeface="Arial"/>
              </a:rPr>
              <a:t>ما جاء ليحل محلك — جاء ليضاعف قدرتك 🚀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337560"/>
            <a:ext cx="2651760" cy="1554480"/>
          </a:xfrm>
          <a:prstGeom prst="rect">
            <a:avLst/>
          </a:prstGeom>
          <a:solidFill>
            <a:srgbClr val="0A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337560"/>
            <a:ext cx="2651760" cy="54864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400" b="1" i="0">
                <a:solidFill>
                  <a:srgbClr val="BFFF00"/>
                </a:solidFill>
                <a:latin typeface="Arial"/>
              </a:rPr>
              <a:t>✅</a:t>
            </a:r>
          </a:p>
          <a:p>
            <a:pPr algn="ctr" rtl="0"/>
            <a:r>
              <a:rPr sz="1400" b="1" i="0">
                <a:solidFill>
                  <a:srgbClr val="BFFF00"/>
                </a:solidFill>
                <a:latin typeface="Arial"/>
              </a:rPr>
              <a:t>مهارات الوكيل</a:t>
            </a:r>
          </a:p>
          <a:p>
            <a:pPr algn="ctr" rtl="0"/>
            <a:r>
              <a:rPr sz="1400" b="1" i="0">
                <a:solidFill>
                  <a:srgbClr val="BFFF00"/>
                </a:solidFill>
                <a:latin typeface="Arial"/>
              </a:rPr>
              <a:t>(Agent Skills)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3337560"/>
            <a:ext cx="2651760" cy="1554480"/>
          </a:xfrm>
          <a:prstGeom prst="rect">
            <a:avLst/>
          </a:prstGeom>
          <a:solidFill>
            <a:srgbClr val="0A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3337560"/>
            <a:ext cx="265176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338328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400" b="1" i="0">
                <a:solidFill>
                  <a:srgbClr val="00D2FF"/>
                </a:solidFill>
                <a:latin typeface="Arial"/>
              </a:rPr>
              <a:t>✅</a:t>
            </a:r>
          </a:p>
          <a:p>
            <a:pPr algn="ctr" rtl="0"/>
            <a:r>
              <a:rPr sz="1400" b="1" i="0">
                <a:solidFill>
                  <a:srgbClr val="00D2FF"/>
                </a:solidFill>
                <a:latin typeface="Arial"/>
              </a:rPr>
              <a:t>تطبيقات فابريك</a:t>
            </a:r>
          </a:p>
          <a:p>
            <a:pPr algn="ctr" rtl="0"/>
            <a:r>
              <a:rPr sz="1400" b="1" i="0">
                <a:solidFill>
                  <a:srgbClr val="00D2FF"/>
                </a:solidFill>
                <a:latin typeface="Arial"/>
              </a:rPr>
              <a:t>(Fabric Apps)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337560"/>
            <a:ext cx="2651760" cy="1554480"/>
          </a:xfrm>
          <a:prstGeom prst="rect">
            <a:avLst/>
          </a:prstGeom>
          <a:solidFill>
            <a:srgbClr val="0A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337560"/>
            <a:ext cx="2651760" cy="54864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38328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400" b="1" i="0">
                <a:solidFill>
                  <a:srgbClr val="BFFF00"/>
                </a:solidFill>
                <a:latin typeface="Arial"/>
              </a:rPr>
              <a:t>✅</a:t>
            </a:r>
          </a:p>
          <a:p>
            <a:pPr algn="ctr" rtl="0"/>
            <a:r>
              <a:rPr sz="1400" b="1" i="0">
                <a:solidFill>
                  <a:srgbClr val="BFFF00"/>
                </a:solidFill>
                <a:latin typeface="Arial"/>
              </a:rPr>
              <a:t>بروتوكول MCP</a:t>
            </a:r>
          </a:p>
          <a:p>
            <a:pPr algn="ctr" rtl="0"/>
            <a:r>
              <a:rPr sz="1400" b="1" i="0">
                <a:solidFill>
                  <a:srgbClr val="BFFF00"/>
                </a:solidFill>
                <a:latin typeface="Arial"/>
              </a:rPr>
              <a:t>(MCP Protocol)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3337560"/>
            <a:ext cx="2651760" cy="1554480"/>
          </a:xfrm>
          <a:prstGeom prst="rect">
            <a:avLst/>
          </a:prstGeom>
          <a:solidFill>
            <a:srgbClr val="0A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3337560"/>
            <a:ext cx="265176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38328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400" b="1" i="0">
                <a:solidFill>
                  <a:srgbClr val="00D2FF"/>
                </a:solidFill>
                <a:latin typeface="Arial"/>
              </a:rPr>
              <a:t>✅</a:t>
            </a:r>
          </a:p>
          <a:p>
            <a:pPr algn="ctr" rtl="0"/>
            <a:r>
              <a:rPr sz="1400" b="1" i="0">
                <a:solidFill>
                  <a:srgbClr val="00D2FF"/>
                </a:solidFill>
                <a:latin typeface="Arial"/>
              </a:rPr>
              <a:t>ذكاء فابريك</a:t>
            </a:r>
          </a:p>
          <a:p>
            <a:pPr algn="ctr" rtl="0"/>
            <a:r>
              <a:rPr sz="1400" b="1" i="0">
                <a:solidFill>
                  <a:srgbClr val="00D2FF"/>
                </a:solidFill>
                <a:latin typeface="Arial"/>
              </a:rPr>
              <a:t>(Fabric IQ)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5029200"/>
            <a:ext cx="9418320" cy="36576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2064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200" b="1" i="0">
                <a:solidFill>
                  <a:srgbClr val="FFFFFF"/>
                </a:solidFill>
                <a:latin typeface="Arial"/>
              </a:rPr>
              <a:t>اشترك في القناة وخلّي اللايك ❤️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6928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3200" b="1" i="0">
                <a:solidFill>
                  <a:srgbClr val="00D2FF"/>
                </a:solidFill>
                <a:latin typeface="Arial"/>
              </a:rPr>
              <a:t>@HakamDataStudio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100" b="1" i="0">
                <a:solidFill>
                  <a:srgbClr val="00D2FF"/>
                </a:solidFill>
                <a:latin typeface="Arial"/>
              </a:rPr>
              <a:t>@HakamDataStudio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sz="1100" b="0" i="0">
                <a:solidFill>
                  <a:srgbClr val="88AAB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