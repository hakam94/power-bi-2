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097280"/>
            <a:ext cx="9445752" cy="466344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097280"/>
            <a:ext cx="54864" cy="466344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371600"/>
            <a:ext cx="9052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 i="0">
                <a:solidFill>
                  <a:srgbClr val="FFFFFF"/>
                </a:solidFill>
                <a:latin typeface="Arial"/>
              </a:rPr>
              <a:t>عصر الذكاء الاصطناعي الوكيل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68880"/>
            <a:ext cx="9052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i="0">
                <a:solidFill>
                  <a:srgbClr val="BFFF00"/>
                </a:solidFill>
                <a:latin typeface="Arial"/>
              </a:rPr>
              <a:t>(Agentic AI)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17520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200" b="0" i="0">
                <a:solidFill>
                  <a:srgbClr val="00D2FF"/>
                </a:solidFill>
                <a:latin typeface="Arial"/>
              </a:rPr>
              <a:t>في باور بي آي ومايكروسوفت فابريك  (Power BI &amp; Microsoft Fabric)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3840480"/>
            <a:ext cx="8531352" cy="2743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3977639"/>
            <a:ext cx="905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0" i="0">
                <a:solidFill>
                  <a:srgbClr val="88AABB"/>
                </a:solidFill>
                <a:latin typeface="Arial"/>
              </a:rPr>
              <a:t>حكم داتا ستوديو  (Hakam Data Studio) | مايكروسوفت بيلد 2026  (Microsoft Build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BFFF00"/>
                </a:solidFill>
                <a:latin typeface="Arial"/>
              </a:rPr>
              <a:t>التطور: من التقارير إلى الوكلاء الذكيين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0" i="0">
                <a:solidFill>
                  <a:srgbClr val="00D2FF"/>
                </a:solidFill>
                <a:latin typeface="Arial"/>
              </a:rPr>
              <a:t>(From Dashboards to AI Agents)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200400"/>
            <a:ext cx="10698480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749039" cy="41148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749039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300" b="1" i="0">
                <a:solidFill>
                  <a:srgbClr val="BFFF00"/>
                </a:solidFill>
                <a:latin typeface="Arial"/>
              </a:rPr>
              <a:t>+20 سنة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800" b="1" i="0">
                <a:solidFill>
                  <a:srgbClr val="FFFFFF"/>
                </a:solidFill>
                <a:latin typeface="Arial"/>
              </a:rPr>
              <a:t>المرحلة الأولى
(Dashboard Era)</a:t>
            </a:r>
          </a:p>
        </p:txBody>
      </p:sp>
      <p:sp>
        <p:nvSpPr>
          <p:cNvPr id="10" name="Oval 9"/>
          <p:cNvSpPr/>
          <p:nvPr/>
        </p:nvSpPr>
        <p:spPr>
          <a:xfrm>
            <a:off x="2148840" y="3090672"/>
            <a:ext cx="365760" cy="365760"/>
          </a:xfrm>
          <a:prstGeom prst="ellipse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108960"/>
            <a:ext cx="37490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FFFFFF"/>
                </a:solidFill>
                <a:latin typeface="Arial"/>
              </a:rPr>
              <a:t>لوحات بيانات ثابتة
الإنسان يسأل والنظام يجاوب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371600"/>
            <a:ext cx="3749039" cy="41148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371600"/>
            <a:ext cx="3749039" cy="6400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4173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300" b="1" i="0">
                <a:solidFill>
                  <a:srgbClr val="00D2FF"/>
                </a:solidFill>
                <a:latin typeface="Arial"/>
              </a:rPr>
              <a:t>2022 - 2025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8288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800" b="1" i="0">
                <a:solidFill>
                  <a:srgbClr val="FFFFFF"/>
                </a:solidFill>
                <a:latin typeface="Arial"/>
              </a:rPr>
              <a:t>المرحلة الثانية
(Copilot Era)</a:t>
            </a:r>
          </a:p>
        </p:txBody>
      </p:sp>
      <p:sp>
        <p:nvSpPr>
          <p:cNvPr id="16" name="Oval 15"/>
          <p:cNvSpPr/>
          <p:nvPr/>
        </p:nvSpPr>
        <p:spPr>
          <a:xfrm>
            <a:off x="5806440" y="3090672"/>
            <a:ext cx="365760" cy="36576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0" y="3108960"/>
            <a:ext cx="37490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FFFFFF"/>
                </a:solidFill>
                <a:latin typeface="Arial"/>
              </a:rPr>
              <a:t>مساعد ذكي
يجاوب الأسئلة بالكلام الطبيعي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1371600"/>
            <a:ext cx="3749039" cy="41148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1371600"/>
            <a:ext cx="3749039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4173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300" b="1" i="0">
                <a:solidFill>
                  <a:srgbClr val="BFFF00"/>
                </a:solidFill>
                <a:latin typeface="Arial"/>
              </a:rPr>
              <a:t>2026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18288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800" b="1" i="0">
                <a:solidFill>
                  <a:srgbClr val="FFFFFF"/>
                </a:solidFill>
                <a:latin typeface="Arial"/>
              </a:rPr>
              <a:t>المرحلة الثالثة
(Agentic AI Era)</a:t>
            </a:r>
          </a:p>
        </p:txBody>
      </p:sp>
      <p:sp>
        <p:nvSpPr>
          <p:cNvPr id="22" name="Oval 21"/>
          <p:cNvSpPr/>
          <p:nvPr/>
        </p:nvSpPr>
        <p:spPr>
          <a:xfrm>
            <a:off x="9464040" y="3090672"/>
            <a:ext cx="365760" cy="365760"/>
          </a:xfrm>
          <a:prstGeom prst="ellipse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108960"/>
            <a:ext cx="37490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FFFFFF"/>
                </a:solidFill>
                <a:latin typeface="Arial"/>
              </a:rPr>
              <a:t>وكيل ذكي مستقل
يخطط وينفذ ويحقق الأهداف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12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i="0">
                <a:solidFill>
                  <a:srgbClr val="BFFF00"/>
                </a:solidFill>
                <a:latin typeface="Arial"/>
              </a:rPr>
              <a:t>مؤتمر مايكروسوفت بيلد 2026  (Microsoft Build 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FFFFFF"/>
                </a:solidFill>
                <a:latin typeface="Arial"/>
              </a:rPr>
              <a:t>ثلاثة تغييرات ستغير عالم تحليل البيانات إلى الأبد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3749039" cy="493776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64008" cy="493776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40" y="1600200"/>
            <a:ext cx="640080" cy="640080"/>
          </a:xfrm>
          <a:prstGeom prst="ellipse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0" y="161848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 i="0">
                <a:solidFill>
                  <a:srgbClr val="0D2229"/>
                </a:solidFill>
                <a:latin typeface="Arial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3172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700" b="1" i="0">
                <a:solidFill>
                  <a:srgbClr val="FFFFFF"/>
                </a:solidFill>
                <a:latin typeface="Arial"/>
              </a:rPr>
              <a:t>مهارات الوكيل
(Agent Skills for Power BI)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11880"/>
            <a:ext cx="3200400" cy="2743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3749039"/>
            <a:ext cx="374903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 i="0">
                <a:solidFill>
                  <a:srgbClr val="CCEEFF"/>
                </a:solidFill>
                <a:latin typeface="Arial"/>
              </a:rPr>
              <a:t>بناء موديل أعمال كامل وتقارير
بالكلام الطبيعي أو لقطة شاشة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749039" cy="493776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63040"/>
            <a:ext cx="64008" cy="49377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0" y="1600200"/>
            <a:ext cx="640080" cy="6400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161848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 i="0">
                <a:solidFill>
                  <a:srgbClr val="0D2229"/>
                </a:solidFill>
                <a:latin typeface="Arial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33172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700" b="1" i="0">
                <a:solidFill>
                  <a:srgbClr val="FFFFFF"/>
                </a:solidFill>
                <a:latin typeface="Arial"/>
              </a:rPr>
              <a:t>تطبيقات فابريك
(Fabric Apps for Semantic Models)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1880"/>
            <a:ext cx="32004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3749039"/>
            <a:ext cx="374903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 i="0">
                <a:solidFill>
                  <a:srgbClr val="CCEEFF"/>
                </a:solidFill>
                <a:latin typeface="Arial"/>
              </a:rPr>
              <a:t>تطبيقات ويب أصيلة فوق
موديل الأعمال مباشرة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463040"/>
            <a:ext cx="3749039" cy="493776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463040"/>
            <a:ext cx="64008" cy="493776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84080" y="1600200"/>
            <a:ext cx="640080" cy="640080"/>
          </a:xfrm>
          <a:prstGeom prst="ellipse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61848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 i="0">
                <a:solidFill>
                  <a:srgbClr val="0D2229"/>
                </a:solidFill>
                <a:latin typeface="Arial"/>
              </a:rP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33172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700" b="1" i="0">
                <a:solidFill>
                  <a:srgbClr val="FFFFFF"/>
                </a:solidFill>
                <a:latin typeface="Arial"/>
              </a:rPr>
              <a:t>متجر المهارات
(Skills for Fabric Marketplace)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0" y="3611880"/>
            <a:ext cx="3200400" cy="2743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749039"/>
            <a:ext cx="374903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 i="0">
                <a:solidFill>
                  <a:srgbClr val="CCEEFF"/>
                </a:solidFill>
                <a:latin typeface="Arial"/>
              </a:rPr>
              <a:t>سوق أدوات الوكلاء الذكيين
لفابريك مع حوكمة كاملة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BFFF00"/>
                </a:solidFill>
                <a:latin typeface="Arial"/>
              </a:rPr>
              <a:t>مهارات الوكيل  (Agent Skills for Power 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04672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00D2FF"/>
                </a:solidFill>
                <a:latin typeface="Arial"/>
              </a:rPr>
              <a:t>الوكيل الذكي يبني لك تقارير كاملة — من الصفر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651760" cy="384048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65176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BFFF00"/>
                </a:solidFill>
                <a:latin typeface="Arial"/>
              </a:rPr>
              <a:t>موديل الأعمال
(Semantic Model)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560320"/>
            <a:ext cx="2651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FFFFFF"/>
                </a:solidFill>
                <a:latin typeface="Arial"/>
              </a:rPr>
              <a:t>ينشئ الجداول والعلاقات
والمقاييس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2651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200" b="0" i="0">
                <a:solidFill>
                  <a:srgbClr val="00D2FF"/>
                </a:solidFill>
                <a:latin typeface="Arial"/>
              </a:rPr>
              <a:t>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371600"/>
            <a:ext cx="2651760" cy="384048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371600"/>
            <a:ext cx="265176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50876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BFFF00"/>
                </a:solidFill>
                <a:latin typeface="Arial"/>
              </a:rPr>
              <a:t>الداكس
(DAX Measures)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560320"/>
            <a:ext cx="2651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FFFFFF"/>
                </a:solidFill>
                <a:latin typeface="Arial"/>
              </a:rPr>
              <a:t>يكتب مقاييس الداكس
اللازمة تلقائياً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2651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200" b="0" i="0">
                <a:solidFill>
                  <a:srgbClr val="00D2FF"/>
                </a:solidFill>
                <a:latin typeface="Arial"/>
              </a:rPr>
              <a:t>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2651760" cy="384048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371600"/>
            <a:ext cx="265176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50876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BFFF00"/>
                </a:solidFill>
                <a:latin typeface="Arial"/>
              </a:rPr>
              <a:t>التقرير
(Report Pages)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560320"/>
            <a:ext cx="2651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FFFFFF"/>
                </a:solidFill>
                <a:latin typeface="Arial"/>
              </a:rPr>
              <a:t>يبني صفحات التقرير
ويختار المرئيات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651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200" b="0" i="0">
                <a:solidFill>
                  <a:srgbClr val="00D2FF"/>
                </a:solidFill>
                <a:latin typeface="Arial"/>
              </a:rPr>
              <a:t>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371600"/>
            <a:ext cx="2651760" cy="384048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1371600"/>
            <a:ext cx="265176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150876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BFFF00"/>
                </a:solidFill>
                <a:latin typeface="Arial"/>
              </a:rPr>
              <a:t>النشر
(Publish)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560320"/>
            <a:ext cx="2651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FFFFFF"/>
                </a:solidFill>
                <a:latin typeface="Arial"/>
              </a:rPr>
              <a:t>ينشر في مساحة عمل
فابريك مباشرة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394960"/>
            <a:ext cx="11430000" cy="1005840"/>
          </a:xfrm>
          <a:prstGeom prst="rect">
            <a:avLst/>
          </a:prstGeom>
          <a:solidFill>
            <a:srgbClr val="0A2A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394960"/>
            <a:ext cx="54864" cy="100584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BFFF00"/>
                </a:solidFill>
                <a:latin typeface="Arial"/>
              </a:rPr>
              <a:t>✦  تكتب جملة أو تحط لقطة شاشة  (Screenshot)  والوكيل يبني كل شي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00D2FF"/>
                </a:solidFill>
                <a:latin typeface="Arial"/>
              </a:rPr>
              <a:t>تطبيقات فابريك  (Fabric Apps for Semantic Models)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04672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FFFFFF"/>
                </a:solidFill>
                <a:latin typeface="Arial"/>
              </a:rPr>
              <a:t>من موديل بيانات إلى تطبيق ويب كامل — بكلام طبيعي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760720" cy="5029200"/>
          </a:xfrm>
          <a:prstGeom prst="rect">
            <a:avLst/>
          </a:prstGeom>
          <a:solidFill>
            <a:srgbClr val="33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760720" cy="64008"/>
          </a:xfrm>
          <a:prstGeom prst="rect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800" b="1" i="0">
                <a:solidFill>
                  <a:srgbClr val="990000"/>
                </a:solidFill>
                <a:latin typeface="Arial"/>
              </a:rPr>
              <a:t>قبل 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مطور واجهة أمامية  (Frontend)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مطور خوادم  (Backend)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واجهة برمجية  (API)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348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ديزاينر  (Designer)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12079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أسابيع من الشغل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371600"/>
            <a:ext cx="5760720" cy="5029200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1371600"/>
            <a:ext cx="576072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46304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800" b="1" i="0">
                <a:solidFill>
                  <a:srgbClr val="BFFF00"/>
                </a:solidFill>
                <a:latin typeface="Arial"/>
              </a:rPr>
              <a:t>بعد ✅  (With Fabric Apps)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10312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وكيل ذكي واحد  (AI Agent)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8803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موديل أعمال جاهز  (Semantic Model)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65760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كلام طبيعي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44348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تطبيق ويب أصيل  (Fabric-native App)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5212079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في أيام وليس أسابيع!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i="0">
                <a:solidFill>
                  <a:srgbClr val="BFFF00"/>
                </a:solidFill>
                <a:latin typeface="Arial"/>
              </a:rPr>
              <a:t>بروتوكول السياق النموذجي  (MCP — Model Context Protocol)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04672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00D2FF"/>
                </a:solidFill>
                <a:latin typeface="Arial"/>
              </a:rPr>
              <a:t>جسر التواصل بين الوكيل الذكي وباور بي آي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11430000" cy="822960"/>
          </a:xfrm>
          <a:prstGeom prst="rect">
            <a:avLst/>
          </a:prstGeom>
          <a:solidFill>
            <a:srgbClr val="0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BFFF00"/>
                </a:solidFill>
                <a:latin typeface="Arial"/>
              </a:rPr>
              <a:t>🔌  فكّر فيه زي يو إس بي سي للذكاء الاصطناعي  (USB-C for AI)  — معيار موحّد لكل الوكلاء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331720"/>
            <a:ext cx="5577840" cy="41148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5577840" cy="6400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423160"/>
            <a:ext cx="5577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700" b="1" i="0">
                <a:solidFill>
                  <a:srgbClr val="00D2FF"/>
                </a:solidFill>
                <a:latin typeface="Arial"/>
              </a:rPr>
              <a:t>خادم التحليل البعيد
(Remote Power BI MCP Server)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29000"/>
            <a:ext cx="50292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5303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0">
                <a:solidFill>
                  <a:srgbClr val="FFFFFF"/>
                </a:solidFill>
                <a:latin typeface="Arial"/>
              </a:rPr>
              <a:t>• يتصل بموديلات الأعمال المنشورة  (Published Semantic Models)
• يولّد استعلامات داكس  (DAX Queries)
• يجاوب أسئلة البيانات بالكلام الطبيعي
• يحترم صلاحيات الأمان  (Row-Level Security)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31720"/>
            <a:ext cx="5577840" cy="41148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331720"/>
            <a:ext cx="557784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423160"/>
            <a:ext cx="5577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700" b="1" i="0">
                <a:solidFill>
                  <a:srgbClr val="BFFF00"/>
                </a:solidFill>
                <a:latin typeface="Arial"/>
              </a:rPr>
              <a:t>خادم التطوير المحلي
(Local Power BI Modeling MCP Server)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3429000"/>
            <a:ext cx="5029200" cy="2743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520440"/>
            <a:ext cx="5303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0">
                <a:solidFill>
                  <a:srgbClr val="FFFFFF"/>
                </a:solidFill>
                <a:latin typeface="Arial"/>
              </a:rPr>
              <a:t>• يشتغل على ملفات المشروع المحلية  (.pbip files)
• تغيير أعمدة وعلاقات دفعة واحدة  (Bulk Operations)
• إنشاء مقاييس داكس  (DAX Measures) تلقائياً
• يعمل مع بيئات التطوير  (VS Code / Claude Desktop)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00D2FF"/>
                </a:solidFill>
                <a:latin typeface="Arial"/>
              </a:rPr>
              <a:t>ذكاء فابريك  (Fabric IQ)  — طبقة الذكاء الدلالي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60" y="1280160"/>
            <a:ext cx="3200400" cy="18288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80560" y="1280160"/>
            <a:ext cx="320040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3716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800" b="1" i="0">
                <a:solidFill>
                  <a:srgbClr val="BFFF00"/>
                </a:solidFill>
                <a:latin typeface="Arial"/>
              </a:rPr>
              <a:t>ذكاء فابريك
(Fabric IQ)
🧠 دماغ المنصة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291840"/>
            <a:ext cx="3200400" cy="256032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3291840"/>
            <a:ext cx="3200400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3832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00D2FF"/>
                </a:solidFill>
                <a:latin typeface="Arial"/>
              </a:rPr>
              <a:t>ذكاء العمل
(Work IQ)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976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FFFFFF"/>
                </a:solidFill>
                <a:latin typeface="Arial"/>
              </a:rPr>
              <a:t>إيميلات، اجتماعات
مستندات  (Microsoft 365)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3291840"/>
            <a:ext cx="3200400" cy="256032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3291840"/>
            <a:ext cx="3200400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33832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00D2FF"/>
                </a:solidFill>
                <a:latin typeface="Arial"/>
              </a:rPr>
              <a:t>ذكاء فابريك
(Fabric IQ)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42976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FFFFFF"/>
                </a:solidFill>
                <a:latin typeface="Arial"/>
              </a:rPr>
              <a:t>بيانات ومقاييس
الأعمال التجارية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3291840"/>
            <a:ext cx="3200400" cy="256032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3291840"/>
            <a:ext cx="3200400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33832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00D2FF"/>
                </a:solidFill>
                <a:latin typeface="Arial"/>
              </a:rPr>
              <a:t>ذكاء المعرفة
(Foundry IQ)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2976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FFFFFF"/>
                </a:solidFill>
                <a:latin typeface="Arial"/>
              </a:rPr>
              <a:t>المعرفة المؤسسية
الموثّقة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989320"/>
            <a:ext cx="11430000" cy="640080"/>
          </a:xfrm>
          <a:prstGeom prst="rect">
            <a:avLst/>
          </a:prstGeom>
          <a:solidFill>
            <a:srgbClr val="0A22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BFFF00"/>
                </a:solidFill>
                <a:latin typeface="Arial"/>
              </a:rPr>
              <a:t>✦  الوكلاء يشتغلون على نفس فهم الأعمال — بدون تخمينات أو أخطاء  (Governed &amp; Trusted AI)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BFFF00"/>
                </a:solidFill>
                <a:latin typeface="Arial"/>
              </a:rPr>
              <a:t>ماذا يعني هذا عليك؟  (What Does This Mean for You?)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669280" cy="22860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4008" cy="228600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600" b="0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BFFF00"/>
                </a:solidFill>
                <a:latin typeface="Arial"/>
              </a:rPr>
              <a:t>الأعمال المتكررة ستختفي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Arial"/>
              </a:rPr>
              <a:t>كل شي كان يأخذ ساعات — الوكيل سيأخذه
(Data Modeling, DAX, Report Building)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188720"/>
            <a:ext cx="5669280" cy="22860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64008" cy="2286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258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600" b="0" i="0">
                <a:solidFill>
                  <a:srgbClr val="FFFFFF"/>
                </a:solidFill>
                <a:latin typeface="Arial"/>
              </a:rP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00D2FF"/>
                </a:solidFill>
                <a:latin typeface="Arial"/>
              </a:rPr>
              <a:t>موديل الأعمال هو المهارة الأهم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6596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Arial"/>
              </a:rPr>
              <a:t>الوكيل يكتب الداكس — لكن مين يبني الموديل الصح؟
(Semantic Model = Strategic Infrastructure)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840480"/>
            <a:ext cx="5669280" cy="22860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64008" cy="228600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776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600" b="0" i="0">
                <a:solidFill>
                  <a:srgbClr val="FFFFFF"/>
                </a:solidFill>
                <a:latin typeface="Arial"/>
              </a:rPr>
              <a:t>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BFFF00"/>
                </a:solidFill>
                <a:latin typeface="Arial"/>
              </a:rPr>
              <a:t>دور المحلل يتطور مش يختفي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61772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Arial"/>
              </a:rPr>
              <a:t>من تنفيذ المهام إلى الإشراف والجودة والاستراتيجية
(From Executor to Strategic Analyst)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40480"/>
            <a:ext cx="5669280" cy="22860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3840480"/>
            <a:ext cx="64008" cy="2286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9776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600" b="0" i="0">
                <a:solidFill>
                  <a:srgbClr val="FFFFFF"/>
                </a:solidFill>
                <a:latin typeface="Arial"/>
              </a:rPr>
              <a:t>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2336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00D2FF"/>
                </a:solidFill>
                <a:latin typeface="Arial"/>
              </a:rPr>
              <a:t>80% تخفيض في الأعمال المتكررة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1772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Arial"/>
              </a:rPr>
              <a:t>هذا ما تقوله أبحاث 2026 من المؤسسات اللي طبّقت
(80% reduction in repetitive workflows)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i="0">
                <a:solidFill>
                  <a:srgbClr val="FFFFFF"/>
                </a:solidFill>
                <a:latin typeface="Arial"/>
              </a:rPr>
              <a:t>خلاصة الكلام  (Summary)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105156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64008" cy="105156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200" b="0" i="0">
                <a:solidFill>
                  <a:srgbClr val="FFFFFF"/>
                </a:solidFill>
                <a:latin typeface="Arial"/>
              </a:rPr>
              <a:t>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7043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BFFF00"/>
                </a:solidFill>
                <a:latin typeface="Arial"/>
              </a:rPr>
              <a:t>مهارات الوكيل  (Agent Skills for Power BI)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600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بناء كامل بالكلام الطبيعي أو لقطة شاشة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39"/>
            <a:ext cx="11430000" cy="105156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377439"/>
            <a:ext cx="64008" cy="1051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60319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200" b="0" i="0">
                <a:solidFill>
                  <a:srgbClr val="FFFFFF"/>
                </a:solidFill>
                <a:latin typeface="Arial"/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450591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00D2FF"/>
                </a:solidFill>
                <a:latin typeface="Arial"/>
              </a:rPr>
              <a:t>تطبيقات فابريك  (Fabric Apps for Semantic Models)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88035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تطبيقات ويب أصيلة فوق موديل البيانات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57600"/>
            <a:ext cx="11430000" cy="105156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657600"/>
            <a:ext cx="64008" cy="105156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200" b="0" i="0">
                <a:solidFill>
                  <a:srgbClr val="FFFFFF"/>
                </a:solidFill>
                <a:latin typeface="Arial"/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73075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BFFF00"/>
                </a:solidFill>
                <a:latin typeface="Arial"/>
              </a:rPr>
              <a:t>بروتوكول السياق النموذجي  (MCP Servers)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160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جسر احترافي بين الوكلاء وباور بي آي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937759"/>
            <a:ext cx="11430000" cy="105156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937759"/>
            <a:ext cx="64008" cy="1051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120639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200" b="0" i="0">
                <a:solidFill>
                  <a:srgbClr val="FFFFFF"/>
                </a:solidFill>
                <a:latin typeface="Arial"/>
              </a:rPr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010911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00D2FF"/>
                </a:solidFill>
                <a:latin typeface="Arial"/>
              </a:rPr>
              <a:t>ذكاء فابريك  (Fabric IQ)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44067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الطبقة الذكية للدقة والحوكمة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731520"/>
            <a:ext cx="9445752" cy="530352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731520"/>
            <a:ext cx="64008" cy="530352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753344" y="731520"/>
            <a:ext cx="64008" cy="530352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005840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600" b="1" i="0">
                <a:solidFill>
                  <a:srgbClr val="FFFFFF"/>
                </a:solidFill>
                <a:latin typeface="Arial"/>
              </a:rPr>
              <a:t>عصر الذكاء الاصطناعي الوكيل ما جاء ليحل محلك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9052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i="0">
                <a:solidFill>
                  <a:srgbClr val="BFFF00"/>
                </a:solidFill>
                <a:latin typeface="Arial"/>
              </a:rPr>
              <a:t>جاء ليضاعف قدرتك 🚀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423160"/>
            <a:ext cx="8531352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560320"/>
            <a:ext cx="9052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1" i="0">
                <a:solidFill>
                  <a:srgbClr val="00D2FF"/>
                </a:solidFill>
                <a:latin typeface="Arial"/>
              </a:rPr>
              <a:t>اشترك في القناة لمتابعة أحدث محتوى  (Subscribe for Latest Content)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154680"/>
            <a:ext cx="905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FFFFFF"/>
                </a:solidFill>
                <a:latin typeface="Arial"/>
              </a:rPr>
              <a:t>وفي التعليقات: أي ميزة أثارت اهتمامك أكثر؟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61188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0" i="0">
                <a:solidFill>
                  <a:srgbClr val="BFFF00"/>
                </a:solidFill>
                <a:latin typeface="Arial"/>
              </a:rPr>
              <a:t>مهارات الوكيل ولا تطبيقات فابريك؟  (Agent Skills vs Fabric Apps?)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97680"/>
            <a:ext cx="9052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000" b="1" i="0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